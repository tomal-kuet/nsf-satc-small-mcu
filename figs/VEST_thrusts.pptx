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0"/>
  </p:normalViewPr>
  <p:slideViewPr>
    <p:cSldViewPr snapToGrid="0" snapToObjects="1">
      <p:cViewPr varScale="1">
        <p:scale>
          <a:sx n="113" d="100"/>
          <a:sy n="113" d="100"/>
        </p:scale>
        <p:origin x="61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84048" y="960120"/>
            <a:ext cx="3429000" cy="2240280"/>
          </a:xfrm>
          <a:prstGeom prst="roundRect">
            <a:avLst/>
          </a:prstGeom>
          <a:solidFill>
            <a:srgbClr val="E8F0E1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93776" y="1033272"/>
            <a:ext cx="3209544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200" b="1">
                <a:solidFill>
                  <a:srgbClr val="000000"/>
                </a:solidFill>
                <a:latin typeface="Times New Roman"/>
              </a:rPr>
              <a:t>Thrust 1:  Configurable</a:t>
            </a:r>
          </a:p>
          <a:p>
            <a:pPr algn="ctr"/>
            <a:r>
              <a:rPr sz="2200" b="1">
                <a:solidFill>
                  <a:srgbClr val="000000"/>
                </a:solidFill>
                <a:latin typeface="Times New Roman"/>
              </a:rPr>
              <a:t>Trust Substrates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47672"/>
            <a:ext cx="3099816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700">
                <a:solidFill>
                  <a:srgbClr val="000000"/>
                </a:solidFill>
                <a:latin typeface="Times New Roman"/>
              </a:rPr>
              <a:t>Trust descriptors, configurable</a:t>
            </a:r>
          </a:p>
          <a:p>
            <a:pPr algn="ctr"/>
            <a:r>
              <a:rPr sz="1700">
                <a:solidFill>
                  <a:srgbClr val="000000"/>
                </a:solidFill>
                <a:latin typeface="Times New Roman"/>
              </a:rPr>
              <a:t>TCB synthesis, hardware/</a:t>
            </a:r>
          </a:p>
          <a:p>
            <a:pPr algn="ctr"/>
            <a:r>
              <a:rPr sz="1700">
                <a:solidFill>
                  <a:srgbClr val="000000"/>
                </a:solidFill>
                <a:latin typeface="Times New Roman"/>
              </a:rPr>
              <a:t>software attestation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5112" y="960120"/>
            <a:ext cx="3429000" cy="2240280"/>
          </a:xfrm>
          <a:prstGeom prst="roundRect">
            <a:avLst/>
          </a:prstGeom>
          <a:solidFill>
            <a:srgbClr val="E7ECF6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434840" y="1033272"/>
            <a:ext cx="3209544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200" b="1">
                <a:solidFill>
                  <a:srgbClr val="000000"/>
                </a:solidFill>
                <a:latin typeface="Times New Roman"/>
              </a:rPr>
              <a:t>Thrust 2:  Compartment-</a:t>
            </a:r>
          </a:p>
          <a:p>
            <a:pPr algn="ctr"/>
            <a:r>
              <a:rPr sz="2200" b="1">
                <a:solidFill>
                  <a:srgbClr val="000000"/>
                </a:solidFill>
                <a:latin typeface="Times New Roman"/>
              </a:rPr>
              <a:t>Aware Runtime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9704" y="2297631"/>
            <a:ext cx="3099816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700" dirty="0">
                <a:solidFill>
                  <a:srgbClr val="000000"/>
                </a:solidFill>
                <a:latin typeface="Times New Roman"/>
              </a:rPr>
              <a:t>Linear-space runtime evidence,</a:t>
            </a:r>
          </a:p>
          <a:p>
            <a:pPr algn="ctr"/>
            <a:r>
              <a:rPr sz="1700" dirty="0">
                <a:solidFill>
                  <a:srgbClr val="000000"/>
                </a:solidFill>
                <a:latin typeface="Times New Roman"/>
              </a:rPr>
              <a:t>interrupt-aware verification,</a:t>
            </a:r>
          </a:p>
          <a:p>
            <a:pPr algn="ctr"/>
            <a:r>
              <a:rPr sz="1700" dirty="0">
                <a:solidFill>
                  <a:srgbClr val="000000"/>
                </a:solidFill>
                <a:latin typeface="Times New Roman"/>
              </a:rPr>
              <a:t>secure measurement generation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47888" y="960120"/>
            <a:ext cx="3429000" cy="2240280"/>
          </a:xfrm>
          <a:prstGeom prst="roundRect">
            <a:avLst/>
          </a:prstGeom>
          <a:solidFill>
            <a:srgbClr val="EFE9F4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57616" y="1033272"/>
            <a:ext cx="3209544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Thrust 3:  Verifiable</a:t>
            </a:r>
          </a:p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Compartmentalization and</a:t>
            </a:r>
          </a:p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Trust Recovery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947672"/>
            <a:ext cx="3099816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700">
                <a:solidFill>
                  <a:srgbClr val="000000"/>
                </a:solidFill>
                <a:latin typeface="Times New Roman"/>
              </a:rPr>
              <a:t>Verification-aware partitioning,</a:t>
            </a:r>
          </a:p>
          <a:p>
            <a:pPr algn="ctr"/>
            <a:r>
              <a:rPr sz="1700">
                <a:solidFill>
                  <a:srgbClr val="000000"/>
                </a:solidFill>
                <a:latin typeface="Times New Roman"/>
              </a:rPr>
              <a:t>authenticated boundary enforcement,</a:t>
            </a:r>
          </a:p>
          <a:p>
            <a:pPr algn="ctr"/>
            <a:r>
              <a:rPr sz="1700">
                <a:solidFill>
                  <a:srgbClr val="000000"/>
                </a:solidFill>
                <a:latin typeface="Times New Roman"/>
              </a:rPr>
              <a:t>selective recovery and re-attestation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822191" y="1993392"/>
            <a:ext cx="457200" cy="164592"/>
          </a:xfrm>
          <a:prstGeom prst="rightArrow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ight Arrow 11"/>
          <p:cNvSpPr/>
          <p:nvPr/>
        </p:nvSpPr>
        <p:spPr>
          <a:xfrm>
            <a:off x="7763256" y="1993392"/>
            <a:ext cx="457200" cy="164592"/>
          </a:xfrm>
          <a:prstGeom prst="rightArrow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417320" y="3977639"/>
            <a:ext cx="9098280" cy="1600200"/>
          </a:xfrm>
          <a:prstGeom prst="roundRect">
            <a:avLst/>
          </a:prstGeom>
          <a:solidFill>
            <a:srgbClr val="F5F1E6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45920" y="4160519"/>
            <a:ext cx="8641080" cy="1325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100" b="1">
                <a:solidFill>
                  <a:srgbClr val="000000"/>
                </a:solidFill>
                <a:latin typeface="Times New Roman"/>
              </a:rPr>
              <a:t>Unified Trust Goal:</a:t>
            </a:r>
            <a:r>
              <a:rPr sz="1800">
                <a:solidFill>
                  <a:srgbClr val="000000"/>
                </a:solidFill>
                <a:latin typeface="Times New Roman"/>
              </a:rPr>
              <a:t>  prove that the correct hardware/software trust substrate was</a:t>
            </a:r>
          </a:p>
          <a:p>
            <a:pPr algn="ctr"/>
            <a:r>
              <a:rPr sz="1800">
                <a:solidFill>
                  <a:srgbClr val="000000"/>
                </a:solidFill>
                <a:latin typeface="Times New Roman"/>
              </a:rPr>
              <a:t>established, the correct runtime behavior and boundary events were attested,</a:t>
            </a:r>
          </a:p>
          <a:p>
            <a:pPr algn="ctr"/>
            <a:r>
              <a:rPr sz="1800">
                <a:solidFill>
                  <a:srgbClr val="000000"/>
                </a:solidFill>
                <a:latin typeface="Times New Roman"/>
              </a:rPr>
              <a:t>compromised components remained contained, and trusted service could be</a:t>
            </a:r>
          </a:p>
          <a:p>
            <a:pPr algn="ctr"/>
            <a:r>
              <a:rPr sz="1800">
                <a:solidFill>
                  <a:srgbClr val="000000"/>
                </a:solidFill>
                <a:latin typeface="Times New Roman"/>
              </a:rPr>
              <a:t>selectively recovered.</a:t>
            </a:r>
          </a:p>
        </p:txBody>
      </p:sp>
      <p:sp>
        <p:nvSpPr>
          <p:cNvPr id="15" name="Straight Connector 14"/>
          <p:cNvSpPr/>
          <p:nvPr/>
        </p:nvSpPr>
        <p:spPr>
          <a:xfrm>
            <a:off x="2029968" y="3200400"/>
            <a:ext cx="0" cy="384048"/>
          </a:xfrm>
          <a:prstGeom prst="lineInv">
            <a:avLst/>
          </a:prstGeom>
          <a:noFill/>
          <a:ln w="158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traight Connector 15"/>
          <p:cNvSpPr/>
          <p:nvPr/>
        </p:nvSpPr>
        <p:spPr>
          <a:xfrm>
            <a:off x="2029968" y="3584448"/>
            <a:ext cx="576072" cy="0"/>
          </a:xfrm>
          <a:prstGeom prst="lineInv">
            <a:avLst/>
          </a:prstGeom>
          <a:noFill/>
          <a:ln w="158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Straight Connector 16"/>
          <p:cNvSpPr/>
          <p:nvPr/>
        </p:nvSpPr>
        <p:spPr>
          <a:xfrm>
            <a:off x="2606040" y="3584448"/>
            <a:ext cx="0" cy="219456"/>
          </a:xfrm>
          <a:prstGeom prst="lineInv">
            <a:avLst/>
          </a:prstGeom>
          <a:noFill/>
          <a:ln w="158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Down Arrow 17"/>
          <p:cNvSpPr/>
          <p:nvPr/>
        </p:nvSpPr>
        <p:spPr>
          <a:xfrm>
            <a:off x="2523744" y="3712463"/>
            <a:ext cx="164592" cy="347472"/>
          </a:xfrm>
          <a:prstGeom prst="downArrow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traight Connector 18"/>
          <p:cNvSpPr/>
          <p:nvPr/>
        </p:nvSpPr>
        <p:spPr>
          <a:xfrm>
            <a:off x="6035040" y="3200400"/>
            <a:ext cx="0" cy="603504"/>
          </a:xfrm>
          <a:prstGeom prst="lineInv">
            <a:avLst/>
          </a:prstGeom>
          <a:noFill/>
          <a:ln w="158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Down Arrow 19"/>
          <p:cNvSpPr/>
          <p:nvPr/>
        </p:nvSpPr>
        <p:spPr>
          <a:xfrm>
            <a:off x="5952744" y="3712463"/>
            <a:ext cx="164592" cy="347472"/>
          </a:xfrm>
          <a:prstGeom prst="downArrow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traight Connector 20"/>
          <p:cNvSpPr/>
          <p:nvPr/>
        </p:nvSpPr>
        <p:spPr>
          <a:xfrm>
            <a:off x="9966960" y="3200400"/>
            <a:ext cx="0" cy="384048"/>
          </a:xfrm>
          <a:prstGeom prst="lineInv">
            <a:avLst/>
          </a:prstGeom>
          <a:noFill/>
          <a:ln w="158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Straight Connector 21"/>
          <p:cNvSpPr/>
          <p:nvPr/>
        </p:nvSpPr>
        <p:spPr>
          <a:xfrm>
            <a:off x="9966960" y="3584448"/>
            <a:ext cx="0" cy="0"/>
          </a:xfrm>
          <a:prstGeom prst="lineInv">
            <a:avLst/>
          </a:prstGeom>
          <a:noFill/>
          <a:ln w="158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Straight Connector 22"/>
          <p:cNvSpPr/>
          <p:nvPr/>
        </p:nvSpPr>
        <p:spPr>
          <a:xfrm>
            <a:off x="9390888" y="3584448"/>
            <a:ext cx="0" cy="219456"/>
          </a:xfrm>
          <a:prstGeom prst="lineInv">
            <a:avLst/>
          </a:prstGeom>
          <a:noFill/>
          <a:ln w="158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wn Arrow 23"/>
          <p:cNvSpPr/>
          <p:nvPr/>
        </p:nvSpPr>
        <p:spPr>
          <a:xfrm>
            <a:off x="9308592" y="3712463"/>
            <a:ext cx="164592" cy="347472"/>
          </a:xfrm>
          <a:prstGeom prst="downArrow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92</Words>
  <Application>Microsoft Macintosh PowerPoint</Application>
  <PresentationFormat>Widescreen</PresentationFormat>
  <Paragraphs>20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Times New Roman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Armanuzzaman, MD</cp:lastModifiedBy>
  <cp:revision>3</cp:revision>
  <dcterms:created xsi:type="dcterms:W3CDTF">2013-01-27T09:14:16Z</dcterms:created>
  <dcterms:modified xsi:type="dcterms:W3CDTF">2026-07-22T21:31:25Z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73649dc-6fee-4eb8-a128-734c3c842ea8_Enabled">
    <vt:lpwstr>true</vt:lpwstr>
  </property>
  <property fmtid="{D5CDD505-2E9C-101B-9397-08002B2CF9AE}" pid="3" name="MSIP_Label_b73649dc-6fee-4eb8-a128-734c3c842ea8_SetDate">
    <vt:lpwstr>2026-07-22T21:30:14Z</vt:lpwstr>
  </property>
  <property fmtid="{D5CDD505-2E9C-101B-9397-08002B2CF9AE}" pid="4" name="MSIP_Label_b73649dc-6fee-4eb8-a128-734c3c842ea8_Method">
    <vt:lpwstr>Standard</vt:lpwstr>
  </property>
  <property fmtid="{D5CDD505-2E9C-101B-9397-08002B2CF9AE}" pid="5" name="MSIP_Label_b73649dc-6fee-4eb8-a128-734c3c842ea8_Name">
    <vt:lpwstr>defa4170-0d19-0005-0004-bc88714345d2</vt:lpwstr>
  </property>
  <property fmtid="{D5CDD505-2E9C-101B-9397-08002B2CF9AE}" pid="6" name="MSIP_Label_b73649dc-6fee-4eb8-a128-734c3c842ea8_SiteId">
    <vt:lpwstr>857c21d2-1a16-43a4-90cf-d57f3fab9d2f</vt:lpwstr>
  </property>
  <property fmtid="{D5CDD505-2E9C-101B-9397-08002B2CF9AE}" pid="7" name="MSIP_Label_b73649dc-6fee-4eb8-a128-734c3c842ea8_ActionId">
    <vt:lpwstr>baf24f02-0058-4cd5-95db-0c30e65d1d34</vt:lpwstr>
  </property>
  <property fmtid="{D5CDD505-2E9C-101B-9397-08002B2CF9AE}" pid="8" name="MSIP_Label_b73649dc-6fee-4eb8-a128-734c3c842ea8_ContentBits">
    <vt:lpwstr>0</vt:lpwstr>
  </property>
  <property fmtid="{D5CDD505-2E9C-101B-9397-08002B2CF9AE}" pid="9" name="MSIP_Label_b73649dc-6fee-4eb8-a128-734c3c842ea8_Tag">
    <vt:lpwstr>50, 3, 0, 1</vt:lpwstr>
  </property>
</Properties>
</file>