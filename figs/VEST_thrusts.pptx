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337925" cy="2835275"/>
  <p:notesSz cx="6858000" cy="9144000"/>
  <p:defaultTextStyle>
    <a:defPPr>
      <a:defRPr lang="en-US"/>
    </a:defPPr>
    <a:lvl1pPr marL="0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1pPr>
    <a:lvl2pPr marL="340085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2pPr>
    <a:lvl3pPr marL="680170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3pPr>
    <a:lvl4pPr marL="1020250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4pPr>
    <a:lvl5pPr marL="1360337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5pPr>
    <a:lvl6pPr marL="1700419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6pPr>
    <a:lvl7pPr marL="2040504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7pPr>
    <a:lvl8pPr marL="2380587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8pPr>
    <a:lvl9pPr marL="2720672" algn="l" defTabSz="340085" rtl="0" eaLnBrk="1" latinLnBrk="0" hangingPunct="1">
      <a:defRPr sz="13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3" userDrawn="1">
          <p15:clr>
            <a:srgbClr val="A4A3A4"/>
          </p15:clr>
        </p15:guide>
        <p15:guide id="2" pos="26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640"/>
  </p:normalViewPr>
  <p:slideViewPr>
    <p:cSldViewPr snapToGrid="0" snapToObjects="1">
      <p:cViewPr varScale="1">
        <p:scale>
          <a:sx n="132" d="100"/>
          <a:sy n="132" d="100"/>
        </p:scale>
        <p:origin x="152" y="1408"/>
      </p:cViewPr>
      <p:guideLst>
        <p:guide orient="horz" pos="893"/>
        <p:guide pos="26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762" y="880775"/>
            <a:ext cx="7227927" cy="6077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5520" y="1606656"/>
            <a:ext cx="5952411" cy="7245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2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5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1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62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35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07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80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719" y="1821927"/>
            <a:ext cx="7227927" cy="563117"/>
          </a:xfrm>
        </p:spPr>
        <p:txBody>
          <a:bodyPr anchor="t"/>
          <a:lstStyle>
            <a:lvl1pPr algn="l">
              <a:defRPr sz="413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719" y="1201713"/>
            <a:ext cx="7227927" cy="620216"/>
          </a:xfrm>
        </p:spPr>
        <p:txBody>
          <a:bodyPr anchor="b"/>
          <a:lstStyle>
            <a:lvl1pPr marL="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1pPr>
            <a:lvl2pPr marL="472557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2pPr>
            <a:lvl3pPr marL="945115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3pPr>
            <a:lvl4pPr marL="1417671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4pPr>
            <a:lvl5pPr marL="1890229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5pPr>
            <a:lvl6pPr marL="2362786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6pPr>
            <a:lvl7pPr marL="2835344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7pPr>
            <a:lvl8pPr marL="3307900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8pPr>
            <a:lvl9pPr marL="3780457" indent="0">
              <a:buNone/>
              <a:defRPr sz="14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172" y="661569"/>
            <a:ext cx="3755688" cy="1871150"/>
          </a:xfrm>
        </p:spPr>
        <p:txBody>
          <a:bodyPr/>
          <a:lstStyle>
            <a:lvl1pPr>
              <a:defRPr sz="2894"/>
            </a:lvl1pPr>
            <a:lvl2pPr>
              <a:defRPr sz="2481"/>
            </a:lvl2pPr>
            <a:lvl3pPr>
              <a:defRPr sz="2067"/>
            </a:lvl3pPr>
            <a:lvl4pPr>
              <a:defRPr sz="1860"/>
            </a:lvl4pPr>
            <a:lvl5pPr>
              <a:defRPr sz="1860"/>
            </a:lvl5pPr>
            <a:lvl6pPr>
              <a:defRPr sz="1860"/>
            </a:lvl6pPr>
            <a:lvl7pPr>
              <a:defRPr sz="1860"/>
            </a:lvl7pPr>
            <a:lvl8pPr>
              <a:defRPr sz="1860"/>
            </a:lvl8pPr>
            <a:lvl9pPr>
              <a:defRPr sz="18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2584" y="661569"/>
            <a:ext cx="3755688" cy="1871150"/>
          </a:xfrm>
        </p:spPr>
        <p:txBody>
          <a:bodyPr/>
          <a:lstStyle>
            <a:lvl1pPr>
              <a:defRPr sz="2894"/>
            </a:lvl1pPr>
            <a:lvl2pPr>
              <a:defRPr sz="2481"/>
            </a:lvl2pPr>
            <a:lvl3pPr>
              <a:defRPr sz="2067"/>
            </a:lvl3pPr>
            <a:lvl4pPr>
              <a:defRPr sz="1860"/>
            </a:lvl4pPr>
            <a:lvl5pPr>
              <a:defRPr sz="1860"/>
            </a:lvl5pPr>
            <a:lvl6pPr>
              <a:defRPr sz="1860"/>
            </a:lvl6pPr>
            <a:lvl7pPr>
              <a:defRPr sz="1860"/>
            </a:lvl7pPr>
            <a:lvl8pPr>
              <a:defRPr sz="1860"/>
            </a:lvl8pPr>
            <a:lvl9pPr>
              <a:defRPr sz="18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179" y="634660"/>
            <a:ext cx="3757165" cy="264494"/>
          </a:xfrm>
        </p:spPr>
        <p:txBody>
          <a:bodyPr anchor="b"/>
          <a:lstStyle>
            <a:lvl1pPr marL="0" indent="0">
              <a:buNone/>
              <a:defRPr sz="2481" b="1"/>
            </a:lvl1pPr>
            <a:lvl2pPr marL="472557" indent="0">
              <a:buNone/>
              <a:defRPr sz="2067" b="1"/>
            </a:lvl2pPr>
            <a:lvl3pPr marL="945115" indent="0">
              <a:buNone/>
              <a:defRPr sz="1860" b="1"/>
            </a:lvl3pPr>
            <a:lvl4pPr marL="1417671" indent="0">
              <a:buNone/>
              <a:defRPr sz="1654" b="1"/>
            </a:lvl4pPr>
            <a:lvl5pPr marL="1890229" indent="0">
              <a:buNone/>
              <a:defRPr sz="1654" b="1"/>
            </a:lvl5pPr>
            <a:lvl6pPr marL="2362786" indent="0">
              <a:buNone/>
              <a:defRPr sz="1654" b="1"/>
            </a:lvl6pPr>
            <a:lvl7pPr marL="2835344" indent="0">
              <a:buNone/>
              <a:defRPr sz="1654" b="1"/>
            </a:lvl7pPr>
            <a:lvl8pPr marL="3307900" indent="0">
              <a:buNone/>
              <a:defRPr sz="1654" b="1"/>
            </a:lvl8pPr>
            <a:lvl9pPr marL="3780457" indent="0">
              <a:buNone/>
              <a:defRPr sz="16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179" y="899151"/>
            <a:ext cx="3757165" cy="1633566"/>
          </a:xfrm>
        </p:spPr>
        <p:txBody>
          <a:bodyPr/>
          <a:lstStyle>
            <a:lvl1pPr>
              <a:defRPr sz="2481"/>
            </a:lvl1pPr>
            <a:lvl2pPr>
              <a:defRPr sz="2067"/>
            </a:lvl2pPr>
            <a:lvl3pPr>
              <a:defRPr sz="1860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19632" y="634660"/>
            <a:ext cx="3758641" cy="264494"/>
          </a:xfrm>
        </p:spPr>
        <p:txBody>
          <a:bodyPr anchor="b"/>
          <a:lstStyle>
            <a:lvl1pPr marL="0" indent="0">
              <a:buNone/>
              <a:defRPr sz="2481" b="1"/>
            </a:lvl1pPr>
            <a:lvl2pPr marL="472557" indent="0">
              <a:buNone/>
              <a:defRPr sz="2067" b="1"/>
            </a:lvl2pPr>
            <a:lvl3pPr marL="945115" indent="0">
              <a:buNone/>
              <a:defRPr sz="1860" b="1"/>
            </a:lvl3pPr>
            <a:lvl4pPr marL="1417671" indent="0">
              <a:buNone/>
              <a:defRPr sz="1654" b="1"/>
            </a:lvl4pPr>
            <a:lvl5pPr marL="1890229" indent="0">
              <a:buNone/>
              <a:defRPr sz="1654" b="1"/>
            </a:lvl5pPr>
            <a:lvl6pPr marL="2362786" indent="0">
              <a:buNone/>
              <a:defRPr sz="1654" b="1"/>
            </a:lvl6pPr>
            <a:lvl7pPr marL="2835344" indent="0">
              <a:buNone/>
              <a:defRPr sz="1654" b="1"/>
            </a:lvl7pPr>
            <a:lvl8pPr marL="3307900" indent="0">
              <a:buNone/>
              <a:defRPr sz="1654" b="1"/>
            </a:lvl8pPr>
            <a:lvl9pPr marL="3780457" indent="0">
              <a:buNone/>
              <a:defRPr sz="16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19632" y="899151"/>
            <a:ext cx="3758641" cy="1633566"/>
          </a:xfrm>
        </p:spPr>
        <p:txBody>
          <a:bodyPr/>
          <a:lstStyle>
            <a:lvl1pPr>
              <a:defRPr sz="2481"/>
            </a:lvl1pPr>
            <a:lvl2pPr>
              <a:defRPr sz="2067"/>
            </a:lvl2pPr>
            <a:lvl3pPr>
              <a:defRPr sz="1860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181" y="112886"/>
            <a:ext cx="2797574" cy="480422"/>
          </a:xfrm>
        </p:spPr>
        <p:txBody>
          <a:bodyPr anchor="b"/>
          <a:lstStyle>
            <a:lvl1pPr algn="l">
              <a:defRPr sz="20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4614" y="112890"/>
            <a:ext cx="4753662" cy="2419828"/>
          </a:xfrm>
        </p:spPr>
        <p:txBody>
          <a:bodyPr/>
          <a:lstStyle>
            <a:lvl1pPr>
              <a:defRPr sz="3308"/>
            </a:lvl1pPr>
            <a:lvl2pPr>
              <a:defRPr sz="2894"/>
            </a:lvl2pPr>
            <a:lvl3pPr>
              <a:defRPr sz="2481"/>
            </a:lvl3pPr>
            <a:lvl4pPr>
              <a:defRPr sz="2067"/>
            </a:lvl4pPr>
            <a:lvl5pPr>
              <a:defRPr sz="2067"/>
            </a:lvl5pPr>
            <a:lvl6pPr>
              <a:defRPr sz="2067"/>
            </a:lvl6pPr>
            <a:lvl7pPr>
              <a:defRPr sz="2067"/>
            </a:lvl7pPr>
            <a:lvl8pPr>
              <a:defRPr sz="2067"/>
            </a:lvl8pPr>
            <a:lvl9pPr>
              <a:defRPr sz="2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5181" y="593311"/>
            <a:ext cx="2797574" cy="1939407"/>
          </a:xfrm>
        </p:spPr>
        <p:txBody>
          <a:bodyPr/>
          <a:lstStyle>
            <a:lvl1pPr marL="0" indent="0">
              <a:buNone/>
              <a:defRPr sz="1447"/>
            </a:lvl1pPr>
            <a:lvl2pPr marL="472557" indent="0">
              <a:buNone/>
              <a:defRPr sz="1240"/>
            </a:lvl2pPr>
            <a:lvl3pPr marL="945115" indent="0">
              <a:buNone/>
              <a:defRPr sz="1034"/>
            </a:lvl3pPr>
            <a:lvl4pPr marL="1417671" indent="0">
              <a:buNone/>
              <a:defRPr sz="930"/>
            </a:lvl4pPr>
            <a:lvl5pPr marL="1890229" indent="0">
              <a:buNone/>
              <a:defRPr sz="930"/>
            </a:lvl5pPr>
            <a:lvl6pPr marL="2362786" indent="0">
              <a:buNone/>
              <a:defRPr sz="930"/>
            </a:lvl6pPr>
            <a:lvl7pPr marL="2835344" indent="0">
              <a:buNone/>
              <a:defRPr sz="930"/>
            </a:lvl7pPr>
            <a:lvl8pPr marL="3307900" indent="0">
              <a:buNone/>
              <a:defRPr sz="930"/>
            </a:lvl8pPr>
            <a:lvl9pPr marL="3780457" indent="0">
              <a:buNone/>
              <a:defRPr sz="9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738" y="1984695"/>
            <a:ext cx="5102066" cy="234304"/>
          </a:xfrm>
        </p:spPr>
        <p:txBody>
          <a:bodyPr anchor="b"/>
          <a:lstStyle>
            <a:lvl1pPr algn="l">
              <a:defRPr sz="20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6738" y="253337"/>
            <a:ext cx="5102066" cy="1701165"/>
          </a:xfrm>
        </p:spPr>
        <p:txBody>
          <a:bodyPr/>
          <a:lstStyle>
            <a:lvl1pPr marL="0" indent="0">
              <a:buNone/>
              <a:defRPr sz="3308"/>
            </a:lvl1pPr>
            <a:lvl2pPr marL="472557" indent="0">
              <a:buNone/>
              <a:defRPr sz="2894"/>
            </a:lvl2pPr>
            <a:lvl3pPr marL="945115" indent="0">
              <a:buNone/>
              <a:defRPr sz="2481"/>
            </a:lvl3pPr>
            <a:lvl4pPr marL="1417671" indent="0">
              <a:buNone/>
              <a:defRPr sz="2067"/>
            </a:lvl4pPr>
            <a:lvl5pPr marL="1890229" indent="0">
              <a:buNone/>
              <a:defRPr sz="2067"/>
            </a:lvl5pPr>
            <a:lvl6pPr marL="2362786" indent="0">
              <a:buNone/>
              <a:defRPr sz="2067"/>
            </a:lvl6pPr>
            <a:lvl7pPr marL="2835344" indent="0">
              <a:buNone/>
              <a:defRPr sz="2067"/>
            </a:lvl7pPr>
            <a:lvl8pPr marL="3307900" indent="0">
              <a:buNone/>
              <a:defRPr sz="2067"/>
            </a:lvl8pPr>
            <a:lvl9pPr marL="3780457" indent="0">
              <a:buNone/>
              <a:defRPr sz="20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6738" y="2218999"/>
            <a:ext cx="5102066" cy="332751"/>
          </a:xfrm>
        </p:spPr>
        <p:txBody>
          <a:bodyPr/>
          <a:lstStyle>
            <a:lvl1pPr marL="0" indent="0">
              <a:buNone/>
              <a:defRPr sz="1447"/>
            </a:lvl1pPr>
            <a:lvl2pPr marL="472557" indent="0">
              <a:buNone/>
              <a:defRPr sz="1240"/>
            </a:lvl2pPr>
            <a:lvl3pPr marL="945115" indent="0">
              <a:buNone/>
              <a:defRPr sz="1034"/>
            </a:lvl3pPr>
            <a:lvl4pPr marL="1417671" indent="0">
              <a:buNone/>
              <a:defRPr sz="930"/>
            </a:lvl4pPr>
            <a:lvl5pPr marL="1890229" indent="0">
              <a:buNone/>
              <a:defRPr sz="930"/>
            </a:lvl5pPr>
            <a:lvl6pPr marL="2362786" indent="0">
              <a:buNone/>
              <a:defRPr sz="930"/>
            </a:lvl6pPr>
            <a:lvl7pPr marL="2835344" indent="0">
              <a:buNone/>
              <a:defRPr sz="930"/>
            </a:lvl7pPr>
            <a:lvl8pPr marL="3307900" indent="0">
              <a:buNone/>
              <a:defRPr sz="930"/>
            </a:lvl8pPr>
            <a:lvl9pPr marL="3780457" indent="0">
              <a:buNone/>
              <a:defRPr sz="9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5002" y="113544"/>
            <a:ext cx="1913275" cy="2419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5173" y="113544"/>
            <a:ext cx="5598101" cy="2419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176" y="113543"/>
            <a:ext cx="7653099" cy="472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176" y="661569"/>
            <a:ext cx="7653099" cy="187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5172" y="2627882"/>
            <a:ext cx="1984137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5344" y="2627882"/>
            <a:ext cx="2692757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4135" y="2627882"/>
            <a:ext cx="1984137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72557" rtl="0" eaLnBrk="1" latinLnBrk="0" hangingPunct="1">
        <a:spcBef>
          <a:spcPct val="0"/>
        </a:spcBef>
        <a:buNone/>
        <a:defRPr sz="45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4418" indent="-354418" algn="l" defTabSz="472557" rtl="0" eaLnBrk="1" latinLnBrk="0" hangingPunct="1">
        <a:spcBef>
          <a:spcPct val="20000"/>
        </a:spcBef>
        <a:buFont typeface="Arial"/>
        <a:buChar char="•"/>
        <a:defRPr sz="3308" kern="1200">
          <a:solidFill>
            <a:schemeClr val="tx1"/>
          </a:solidFill>
          <a:latin typeface="+mn-lt"/>
          <a:ea typeface="+mn-ea"/>
          <a:cs typeface="+mn-cs"/>
        </a:defRPr>
      </a:lvl1pPr>
      <a:lvl2pPr marL="767907" indent="-295349" algn="l" defTabSz="472557" rtl="0" eaLnBrk="1" latinLnBrk="0" hangingPunct="1">
        <a:spcBef>
          <a:spcPct val="20000"/>
        </a:spcBef>
        <a:buFont typeface="Arial"/>
        <a:buChar char="–"/>
        <a:defRPr sz="2894" kern="1200">
          <a:solidFill>
            <a:schemeClr val="tx1"/>
          </a:solidFill>
          <a:latin typeface="+mn-lt"/>
          <a:ea typeface="+mn-ea"/>
          <a:cs typeface="+mn-cs"/>
        </a:defRPr>
      </a:lvl2pPr>
      <a:lvl3pPr marL="1181393" indent="-236279" algn="l" defTabSz="472557" rtl="0" eaLnBrk="1" latinLnBrk="0" hangingPunct="1">
        <a:spcBef>
          <a:spcPct val="20000"/>
        </a:spcBef>
        <a:buFont typeface="Arial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3pPr>
      <a:lvl4pPr marL="1653950" indent="-236279" algn="l" defTabSz="472557" rtl="0" eaLnBrk="1" latinLnBrk="0" hangingPunct="1">
        <a:spcBef>
          <a:spcPct val="20000"/>
        </a:spcBef>
        <a:buFont typeface="Arial"/>
        <a:buChar char="–"/>
        <a:defRPr sz="2067" kern="1200">
          <a:solidFill>
            <a:schemeClr val="tx1"/>
          </a:solidFill>
          <a:latin typeface="+mn-lt"/>
          <a:ea typeface="+mn-ea"/>
          <a:cs typeface="+mn-cs"/>
        </a:defRPr>
      </a:lvl4pPr>
      <a:lvl5pPr marL="2126507" indent="-236279" algn="l" defTabSz="472557" rtl="0" eaLnBrk="1" latinLnBrk="0" hangingPunct="1">
        <a:spcBef>
          <a:spcPct val="20000"/>
        </a:spcBef>
        <a:buFont typeface="Arial"/>
        <a:buChar char="»"/>
        <a:defRPr sz="2067" kern="1200">
          <a:solidFill>
            <a:schemeClr val="tx1"/>
          </a:solidFill>
          <a:latin typeface="+mn-lt"/>
          <a:ea typeface="+mn-ea"/>
          <a:cs typeface="+mn-cs"/>
        </a:defRPr>
      </a:lvl5pPr>
      <a:lvl6pPr marL="2599065" indent="-236279" algn="l" defTabSz="472557" rtl="0" eaLnBrk="1" latinLnBrk="0" hangingPunct="1">
        <a:spcBef>
          <a:spcPct val="20000"/>
        </a:spcBef>
        <a:buFont typeface="Arial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6pPr>
      <a:lvl7pPr marL="3071621" indent="-236279" algn="l" defTabSz="472557" rtl="0" eaLnBrk="1" latinLnBrk="0" hangingPunct="1">
        <a:spcBef>
          <a:spcPct val="20000"/>
        </a:spcBef>
        <a:buFont typeface="Arial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7pPr>
      <a:lvl8pPr marL="3544179" indent="-236279" algn="l" defTabSz="472557" rtl="0" eaLnBrk="1" latinLnBrk="0" hangingPunct="1">
        <a:spcBef>
          <a:spcPct val="20000"/>
        </a:spcBef>
        <a:buFont typeface="Arial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8pPr>
      <a:lvl9pPr marL="4016736" indent="-236279" algn="l" defTabSz="472557" rtl="0" eaLnBrk="1" latinLnBrk="0" hangingPunct="1">
        <a:spcBef>
          <a:spcPct val="20000"/>
        </a:spcBef>
        <a:buFont typeface="Arial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1pPr>
      <a:lvl2pPr marL="472557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2pPr>
      <a:lvl3pPr marL="945115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3pPr>
      <a:lvl4pPr marL="1417671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4pPr>
      <a:lvl5pPr marL="1890229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5pPr>
      <a:lvl6pPr marL="2362786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6pPr>
      <a:lvl7pPr marL="2835344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7pPr>
      <a:lvl8pPr marL="3307900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8pPr>
      <a:lvl9pPr marL="3780457" algn="l" defTabSz="472557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B76A188D-36CE-0287-AC66-BF72F104503D}"/>
              </a:ext>
            </a:extLst>
          </p:cNvPr>
          <p:cNvSpPr/>
          <p:nvPr/>
        </p:nvSpPr>
        <p:spPr>
          <a:xfrm>
            <a:off x="25386" y="48982"/>
            <a:ext cx="3429000" cy="1451611"/>
          </a:xfrm>
          <a:prstGeom prst="roundRect">
            <a:avLst/>
          </a:prstGeom>
          <a:solidFill>
            <a:srgbClr val="E8F0E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C89C90-6484-4D84-322C-2F4104AA0082}"/>
              </a:ext>
            </a:extLst>
          </p:cNvPr>
          <p:cNvSpPr txBox="1"/>
          <p:nvPr/>
        </p:nvSpPr>
        <p:spPr>
          <a:xfrm>
            <a:off x="135115" y="76412"/>
            <a:ext cx="3319273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Times New Roman"/>
              </a:rPr>
              <a:t>Thrust 1:  </a:t>
            </a:r>
            <a:r>
              <a:rPr lang="en-US" sz="1500" b="1" dirty="0">
                <a:solidFill>
                  <a:srgbClr val="000000"/>
                </a:solidFill>
                <a:latin typeface="Times New Roman"/>
              </a:rPr>
              <a:t>Application-specific Trusted Execution Domains</a:t>
            </a:r>
            <a:endParaRPr sz="15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BE63AA-C736-F01C-800D-70FAC02836E5}"/>
              </a:ext>
            </a:extLst>
          </p:cNvPr>
          <p:cNvSpPr txBox="1"/>
          <p:nvPr/>
        </p:nvSpPr>
        <p:spPr>
          <a:xfrm>
            <a:off x="189980" y="670772"/>
            <a:ext cx="3163820" cy="71572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Explicit resource 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Hardware-assisted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Remote attestation of domain configuration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18D6038-D8C1-36F4-4AA2-BAB16A8174E8}"/>
              </a:ext>
            </a:extLst>
          </p:cNvPr>
          <p:cNvSpPr/>
          <p:nvPr/>
        </p:nvSpPr>
        <p:spPr>
          <a:xfrm>
            <a:off x="3966450" y="48982"/>
            <a:ext cx="3429000" cy="1453896"/>
          </a:xfrm>
          <a:prstGeom prst="roundRect">
            <a:avLst/>
          </a:prstGeom>
          <a:solidFill>
            <a:srgbClr val="E7ECF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42E94D-B401-73A2-3523-9D2D4010075E}"/>
              </a:ext>
            </a:extLst>
          </p:cNvPr>
          <p:cNvSpPr txBox="1"/>
          <p:nvPr/>
        </p:nvSpPr>
        <p:spPr>
          <a:xfrm>
            <a:off x="4076178" y="76414"/>
            <a:ext cx="3209544" cy="681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Times New Roman"/>
              </a:rPr>
              <a:t>Thrust 2:  </a:t>
            </a:r>
            <a:r>
              <a:rPr lang="en-US" sz="1500" b="1" dirty="0">
                <a:solidFill>
                  <a:srgbClr val="000000"/>
                </a:solidFill>
                <a:latin typeface="Times New Roman"/>
              </a:rPr>
              <a:t>Scalable Runtime Trust Attestation</a:t>
            </a:r>
            <a:endParaRPr sz="15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B00687-8B24-D200-70BD-914DC5DB9333}"/>
              </a:ext>
            </a:extLst>
          </p:cNvPr>
          <p:cNvSpPr txBox="1"/>
          <p:nvPr/>
        </p:nvSpPr>
        <p:spPr>
          <a:xfrm>
            <a:off x="4131041" y="670772"/>
            <a:ext cx="3182111" cy="715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Control-flow and task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Protected measurement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Efficient verifier algorithms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1658AA5-00CC-23F5-58BB-1208F87088E9}"/>
              </a:ext>
            </a:extLst>
          </p:cNvPr>
          <p:cNvSpPr/>
          <p:nvPr/>
        </p:nvSpPr>
        <p:spPr>
          <a:xfrm>
            <a:off x="7889226" y="48982"/>
            <a:ext cx="3429000" cy="1453896"/>
          </a:xfrm>
          <a:prstGeom prst="roundRect">
            <a:avLst/>
          </a:prstGeom>
          <a:solidFill>
            <a:srgbClr val="EFE9F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2118F3-02AD-2DED-DD52-C423E135F133}"/>
              </a:ext>
            </a:extLst>
          </p:cNvPr>
          <p:cNvSpPr txBox="1"/>
          <p:nvPr/>
        </p:nvSpPr>
        <p:spPr>
          <a:xfrm>
            <a:off x="7998956" y="122132"/>
            <a:ext cx="3209544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Times New Roman"/>
              </a:rPr>
              <a:t>Thrust 3:  </a:t>
            </a:r>
            <a:r>
              <a:rPr lang="en-US" sz="1500" b="1" dirty="0">
                <a:solidFill>
                  <a:srgbClr val="000000"/>
                </a:solidFill>
                <a:latin typeface="Times New Roman"/>
              </a:rPr>
              <a:t>Evidence-Guided Trust Containment and Recover</a:t>
            </a:r>
            <a:endParaRPr sz="15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240F14-B80C-B108-FA0E-1860C2432A48}"/>
              </a:ext>
            </a:extLst>
          </p:cNvPr>
          <p:cNvSpPr txBox="1"/>
          <p:nvPr/>
        </p:nvSpPr>
        <p:spPr>
          <a:xfrm>
            <a:off x="8053820" y="670772"/>
            <a:ext cx="3099816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Verification-aware compartments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Authenticated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/>
              </a:rPr>
              <a:t>Selective recovery and re-attestation</a:t>
            </a:r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9239629B-00D0-E283-7DF6-EEFB6B06550E}"/>
              </a:ext>
            </a:extLst>
          </p:cNvPr>
          <p:cNvSpPr/>
          <p:nvPr/>
        </p:nvSpPr>
        <p:spPr>
          <a:xfrm>
            <a:off x="3463528" y="692493"/>
            <a:ext cx="457200" cy="164591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ight Arrow 95">
            <a:extLst>
              <a:ext uri="{FF2B5EF4-FFF2-40B4-BE49-F238E27FC236}">
                <a16:creationId xmlns:a16="http://schemas.microsoft.com/office/drawing/2014/main" id="{59F35A62-26F5-1157-2152-6CDDA2F701DC}"/>
              </a:ext>
            </a:extLst>
          </p:cNvPr>
          <p:cNvSpPr/>
          <p:nvPr/>
        </p:nvSpPr>
        <p:spPr>
          <a:xfrm>
            <a:off x="7404595" y="692493"/>
            <a:ext cx="457200" cy="164591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10ED7FF-E884-FE13-288F-E2E83C71F245}"/>
              </a:ext>
            </a:extLst>
          </p:cNvPr>
          <p:cNvSpPr/>
          <p:nvPr/>
        </p:nvSpPr>
        <p:spPr>
          <a:xfrm>
            <a:off x="25386" y="1861145"/>
            <a:ext cx="11292840" cy="890858"/>
          </a:xfrm>
          <a:prstGeom prst="roundRect">
            <a:avLst/>
          </a:prstGeom>
          <a:solidFill>
            <a:srgbClr val="F5F1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83794E-B3FF-D2B9-3B51-C5D8AFF69DDF}"/>
              </a:ext>
            </a:extLst>
          </p:cNvPr>
          <p:cNvSpPr txBox="1"/>
          <p:nvPr/>
        </p:nvSpPr>
        <p:spPr>
          <a:xfrm>
            <a:off x="1287259" y="2216859"/>
            <a:ext cx="8641080" cy="704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1300" dirty="0">
                <a:solidFill>
                  <a:srgbClr val="222222"/>
                </a:solidFill>
                <a:latin typeface="Times New Roman"/>
              </a:rPr>
              <a:t>Construct application-specific trusted environments; attest runtime behavior;</a:t>
            </a: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Times New Roman"/>
              </a:rPr>
              <a:t>contain localized compromise; and selectively recover affected domains.</a:t>
            </a:r>
          </a:p>
        </p:txBody>
      </p:sp>
      <p:sp>
        <p:nvSpPr>
          <p:cNvPr id="99" name="Straight Connector 98">
            <a:extLst>
              <a:ext uri="{FF2B5EF4-FFF2-40B4-BE49-F238E27FC236}">
                <a16:creationId xmlns:a16="http://schemas.microsoft.com/office/drawing/2014/main" id="{14D48EFA-95F9-DA36-32A3-31954BD9B053}"/>
              </a:ext>
            </a:extLst>
          </p:cNvPr>
          <p:cNvSpPr/>
          <p:nvPr/>
        </p:nvSpPr>
        <p:spPr>
          <a:xfrm>
            <a:off x="9608299" y="1467954"/>
            <a:ext cx="0" cy="0"/>
          </a:xfrm>
          <a:prstGeom prst="lineInv">
            <a:avLst/>
          </a:prstGeom>
          <a:noFill/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4A75EA8-6BD3-6AE1-0526-09E8767F4882}"/>
              </a:ext>
            </a:extLst>
          </p:cNvPr>
          <p:cNvSpPr txBox="1"/>
          <p:nvPr/>
        </p:nvSpPr>
        <p:spPr>
          <a:xfrm>
            <a:off x="784339" y="1922793"/>
            <a:ext cx="992124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1" dirty="0">
                <a:solidFill>
                  <a:srgbClr val="192734"/>
                </a:solidFill>
                <a:latin typeface="Times New Roman"/>
              </a:rPr>
              <a:t>Unified Trust Lifecycle</a:t>
            </a:r>
          </a:p>
        </p:txBody>
      </p:sp>
      <p:sp>
        <p:nvSpPr>
          <p:cNvPr id="101" name="Down Arrow 100">
            <a:extLst>
              <a:ext uri="{FF2B5EF4-FFF2-40B4-BE49-F238E27FC236}">
                <a16:creationId xmlns:a16="http://schemas.microsoft.com/office/drawing/2014/main" id="{47E6AF4A-A496-18B7-8ABE-3CB1C82695FA}"/>
              </a:ext>
            </a:extLst>
          </p:cNvPr>
          <p:cNvSpPr/>
          <p:nvPr/>
        </p:nvSpPr>
        <p:spPr>
          <a:xfrm>
            <a:off x="1657592" y="1516596"/>
            <a:ext cx="164591" cy="33312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Down Arrow 101">
            <a:extLst>
              <a:ext uri="{FF2B5EF4-FFF2-40B4-BE49-F238E27FC236}">
                <a16:creationId xmlns:a16="http://schemas.microsoft.com/office/drawing/2014/main" id="{41B2D7C1-217E-7F06-A5B3-50D1A55AD0FF}"/>
              </a:ext>
            </a:extLst>
          </p:cNvPr>
          <p:cNvSpPr/>
          <p:nvPr/>
        </p:nvSpPr>
        <p:spPr>
          <a:xfrm>
            <a:off x="5598661" y="1516596"/>
            <a:ext cx="164591" cy="33312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Down Arrow 102">
            <a:extLst>
              <a:ext uri="{FF2B5EF4-FFF2-40B4-BE49-F238E27FC236}">
                <a16:creationId xmlns:a16="http://schemas.microsoft.com/office/drawing/2014/main" id="{71DB64A9-DB4F-CCC1-E1EE-CB912EB8F7F8}"/>
              </a:ext>
            </a:extLst>
          </p:cNvPr>
          <p:cNvSpPr/>
          <p:nvPr/>
        </p:nvSpPr>
        <p:spPr>
          <a:xfrm>
            <a:off x="9521432" y="1516596"/>
            <a:ext cx="164591" cy="33312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72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Armanuzzaman, MD</cp:lastModifiedBy>
  <cp:revision>6</cp:revision>
  <dcterms:created xsi:type="dcterms:W3CDTF">2013-01-27T09:14:16Z</dcterms:created>
  <dcterms:modified xsi:type="dcterms:W3CDTF">2026-08-18T03:47:50Z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2026-07-22T21:30:14Z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baf24f02-0058-4cd5-95db-0c30e65d1d34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50, 3, 0, 1</vt:lpwstr>
  </property>
</Properties>
</file>