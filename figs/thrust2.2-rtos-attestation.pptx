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486400" cy="636422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36576"/>
            <a:ext cx="3048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Helvetica Neue"/>
              </a:rPr>
              <a:t>Application execution contexts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" y="316992"/>
            <a:ext cx="1554480" cy="780288"/>
          </a:xfrm>
          <a:prstGeom prst="roundRect">
            <a:avLst/>
          </a:prstGeom>
          <a:solidFill>
            <a:srgbClr val="CFE0F5"/>
          </a:solidFill>
          <a:ln w="22225">
            <a:solidFill>
              <a:srgbClr val="2C5A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 i="0">
                <a:solidFill>
                  <a:srgbClr val="0F3A6E"/>
                </a:solidFill>
                <a:latin typeface="Helvetica Neue"/>
              </a:rPr>
              <a:t>Task A</a:t>
            </a:r>
          </a:p>
          <a:p>
            <a:pPr algn="ctr"/>
            <a:r>
              <a:rPr sz="1100" b="0" i="0">
                <a:solidFill>
                  <a:srgbClr val="0F3A6E"/>
                </a:solidFill>
                <a:latin typeface="Helvetica Neue"/>
              </a:rPr>
              <a:t>own CFG +</a:t>
            </a:r>
          </a:p>
          <a:p>
            <a:pPr algn="ctr"/>
            <a:r>
              <a:rPr sz="1100" b="0" i="0">
                <a:solidFill>
                  <a:srgbClr val="0F3A6E"/>
                </a:solidFill>
                <a:latin typeface="Helvetica Neue"/>
              </a:rPr>
              <a:t>measurement state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32432" y="182880"/>
            <a:ext cx="1621536" cy="914400"/>
          </a:xfrm>
          <a:prstGeom prst="roundRect">
            <a:avLst/>
          </a:prstGeom>
          <a:solidFill>
            <a:srgbClr val="FFE1B8"/>
          </a:solidFill>
          <a:ln w="22225">
            <a:solidFill>
              <a:srgbClr val="A35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 i="0">
                <a:solidFill>
                  <a:srgbClr val="7A3D0D"/>
                </a:solidFill>
                <a:latin typeface="Helvetica Neue"/>
              </a:rPr>
              <a:t>ISR</a:t>
            </a:r>
          </a:p>
          <a:p>
            <a:pPr algn="ctr"/>
            <a:r>
              <a:rPr sz="1100" b="0" i="0">
                <a:solidFill>
                  <a:srgbClr val="7A3D0D"/>
                </a:solidFill>
                <a:latin typeface="Helvetica Neue"/>
              </a:rPr>
              <a:t>(nested-capable)</a:t>
            </a:r>
          </a:p>
          <a:p>
            <a:pPr algn="ctr"/>
            <a:r>
              <a:rPr sz="1100" b="0" i="0">
                <a:solidFill>
                  <a:srgbClr val="7A3D0D"/>
                </a:solidFill>
                <a:latin typeface="Helvetica Neue"/>
              </a:rPr>
              <a:t>own CFG +</a:t>
            </a:r>
          </a:p>
          <a:p>
            <a:pPr algn="ctr"/>
            <a:r>
              <a:rPr sz="1100" b="0" i="0">
                <a:solidFill>
                  <a:srgbClr val="7A3D0D"/>
                </a:solidFill>
                <a:latin typeface="Helvetica Neue"/>
              </a:rPr>
              <a:t>measurement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39" y="316992"/>
            <a:ext cx="1554480" cy="780288"/>
          </a:xfrm>
          <a:prstGeom prst="roundRect">
            <a:avLst/>
          </a:prstGeom>
          <a:solidFill>
            <a:srgbClr val="CFE9E6"/>
          </a:solidFill>
          <a:ln w="22225">
            <a:solidFill>
              <a:srgbClr val="1F7A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 i="0">
                <a:solidFill>
                  <a:srgbClr val="0F4A44"/>
                </a:solidFill>
                <a:latin typeface="Helvetica Neue"/>
              </a:rPr>
              <a:t>Task B</a:t>
            </a:r>
          </a:p>
          <a:p>
            <a:pPr algn="ctr"/>
            <a:r>
              <a:rPr sz="1100" b="0" i="0">
                <a:solidFill>
                  <a:srgbClr val="0F4A44"/>
                </a:solidFill>
                <a:latin typeface="Helvetica Neue"/>
              </a:rPr>
              <a:t>own CFG +</a:t>
            </a:r>
          </a:p>
          <a:p>
            <a:pPr algn="ctr"/>
            <a:r>
              <a:rPr sz="1100" b="0" i="0">
                <a:solidFill>
                  <a:srgbClr val="0F4A44"/>
                </a:solidFill>
                <a:latin typeface="Helvetica Neue"/>
              </a:rPr>
              <a:t>measurement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2272" y="1085088"/>
            <a:ext cx="609600" cy="1097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2C5AA0"/>
                </a:solidFill>
                <a:latin typeface="Helvetica Neue"/>
              </a:rPr>
              <a:t>dispatch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400" y="1085088"/>
            <a:ext cx="609600" cy="1097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A35112"/>
                </a:solidFill>
                <a:latin typeface="Helvetica Neue"/>
              </a:rPr>
              <a:t>route IRQ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18432" y="1085088"/>
            <a:ext cx="609600" cy="1097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F7A72"/>
                </a:solidFill>
                <a:latin typeface="Helvetica Neue"/>
              </a:rPr>
              <a:t>switch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2880" y="1207008"/>
            <a:ext cx="5120640" cy="0"/>
          </a:xfrm>
          <a:prstGeom prst="line">
            <a:avLst/>
          </a:prstGeom>
          <a:ln w="13970">
            <a:solidFill>
              <a:srgbClr val="9AA5B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57072" y="1219200"/>
            <a:ext cx="0" cy="121920"/>
          </a:xfrm>
          <a:prstGeom prst="line">
            <a:avLst/>
          </a:prstGeom>
          <a:ln w="25400">
            <a:solidFill>
              <a:srgbClr val="2C5A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1219200"/>
            <a:ext cx="0" cy="121920"/>
          </a:xfrm>
          <a:prstGeom prst="line">
            <a:avLst/>
          </a:prstGeom>
          <a:ln w="25400">
            <a:solidFill>
              <a:srgbClr val="A351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23232" y="1219200"/>
            <a:ext cx="0" cy="121920"/>
          </a:xfrm>
          <a:prstGeom prst="line">
            <a:avLst/>
          </a:prstGeom>
          <a:ln w="25400">
            <a:solidFill>
              <a:srgbClr val="1F7A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82880" y="1353312"/>
            <a:ext cx="5120640" cy="1402080"/>
          </a:xfrm>
          <a:prstGeom prst="roundRect">
            <a:avLst/>
          </a:prstGeom>
          <a:solidFill>
            <a:srgbClr val="F1EAF9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438656"/>
            <a:ext cx="5120640" cy="158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4A3568"/>
                </a:solidFill>
                <a:latin typeface="Helvetica Neue"/>
              </a:rPr>
              <a:t>RTOS Kernel — Scheduler / Interrupt Dispatcher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" y="1609344"/>
            <a:ext cx="5120640" cy="12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A3568"/>
                </a:solidFill>
                <a:latin typeface="Helvetica Neue"/>
              </a:rPr>
              <a:t>tasks and ISRs execute on top of the RTOS runtime</a:t>
            </a:r>
          </a:p>
        </p:txBody>
      </p:sp>
      <p:sp>
        <p:nvSpPr>
          <p:cNvPr id="16" name="Oval 15"/>
          <p:cNvSpPr/>
          <p:nvPr/>
        </p:nvSpPr>
        <p:spPr>
          <a:xfrm>
            <a:off x="2401824" y="1761744"/>
            <a:ext cx="682752" cy="682752"/>
          </a:xfrm>
          <a:prstGeom prst="ellipse">
            <a:avLst/>
          </a:prstGeom>
          <a:noFill/>
          <a:ln w="3810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>
            <a:noAutofit/>
          </a:bodyPr>
          <a:lstStyle/>
          <a:p>
            <a:pPr algn="ctr"/>
            <a:r>
              <a:rPr sz="1000" b="1" i="0">
                <a:solidFill>
                  <a:srgbClr val="4A3568"/>
                </a:solidFill>
                <a:latin typeface="Helvetica Neue"/>
              </a:rPr>
              <a:t>dispatch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2011680"/>
            <a:ext cx="792480" cy="243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A3568"/>
                </a:solidFill>
                <a:latin typeface="Helvetica Neue"/>
              </a:rPr>
              <a:t>preempt (1)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011680"/>
            <a:ext cx="914400" cy="243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4A3568"/>
                </a:solidFill>
                <a:latin typeface="Helvetica Neue"/>
              </a:rPr>
              <a:t>context switch (2)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" y="2529840"/>
            <a:ext cx="5120640" cy="12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4A3568"/>
                </a:solidFill>
                <a:latin typeface="Helvetica Neue"/>
              </a:rPr>
              <a:t>each dispatch / switch / IRQ routing is authenticated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43200" y="2755392"/>
            <a:ext cx="0" cy="207264"/>
          </a:xfrm>
          <a:prstGeom prst="line">
            <a:avLst/>
          </a:prstGeom>
          <a:ln w="28575">
            <a:solidFill>
              <a:srgbClr val="2F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834640" y="2791968"/>
            <a:ext cx="1584960" cy="12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15C24"/>
                </a:solidFill>
                <a:latin typeface="Helvetica Neue"/>
              </a:rPr>
              <a:t>suspend + save state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" y="2999232"/>
            <a:ext cx="5120640" cy="2011680"/>
          </a:xfrm>
          <a:prstGeom prst="roundRect">
            <a:avLst/>
          </a:prstGeom>
          <a:solidFill>
            <a:srgbClr val="EAF6EA"/>
          </a:solidFill>
          <a:ln w="22225">
            <a:solidFill>
              <a:srgbClr val="2F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3084576"/>
            <a:ext cx="5120640" cy="158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15C24"/>
                </a:solidFill>
                <a:latin typeface="Helvetica Neue"/>
              </a:rPr>
              <a:t>TrustZone Secure World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" y="3255264"/>
            <a:ext cx="51206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215C24"/>
                </a:solidFill>
                <a:latin typeface="Helvetica Neue"/>
              </a:rPr>
              <a:t>protected per-context measurement states (Secure NVIC + measurement stack)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6720" y="3505200"/>
            <a:ext cx="2011680" cy="304800"/>
          </a:xfrm>
          <a:prstGeom prst="roundRect">
            <a:avLst/>
          </a:prstGeom>
          <a:solidFill>
            <a:srgbClr val="FFE1B8"/>
          </a:solidFill>
          <a:ln w="17780">
            <a:solidFill>
              <a:srgbClr val="A351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0" i="0">
                <a:solidFill>
                  <a:srgbClr val="1A1A1A"/>
                </a:solidFill>
                <a:latin typeface="Helvetica Neue"/>
              </a:rPr>
              <a:t>M_ISR (active)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6720" y="3846576"/>
            <a:ext cx="2011680" cy="304800"/>
          </a:xfrm>
          <a:prstGeom prst="roundRect">
            <a:avLst/>
          </a:prstGeom>
          <a:solidFill>
            <a:srgbClr val="CFE0F5"/>
          </a:solidFill>
          <a:ln w="17780">
            <a:solidFill>
              <a:srgbClr val="2C5A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0" i="0">
                <a:solidFill>
                  <a:srgbClr val="1A1A1A"/>
                </a:solidFill>
                <a:latin typeface="Helvetica Neue"/>
              </a:rPr>
              <a:t>M_TaskA (suspended)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20" y="4181856"/>
            <a:ext cx="2072640" cy="12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15C24"/>
                </a:solidFill>
                <a:latin typeface="Helvetica Neue"/>
              </a:rPr>
              <a:t>↑ push on entry  •  pop + verify on return 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21280" y="3505200"/>
            <a:ext cx="2316480" cy="914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FE0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0800" rIns="50800" tIns="25400" bIns="25400"/>
          <a:lstStyle/>
          <a:p>
            <a:pPr algn="ctr"/>
            <a:r>
              <a:rPr sz="1200" b="1" i="0">
                <a:solidFill>
                  <a:srgbClr val="1A1A1A"/>
                </a:solidFill>
                <a:latin typeface="Helvetica Neue"/>
              </a:rPr>
              <a:t>Cryptographically bound</a:t>
            </a:r>
          </a:p>
          <a:p>
            <a:pPr algn="ctr"/>
            <a:r>
              <a:rPr sz="1000" b="0" i="0">
                <a:solidFill>
                  <a:srgbClr val="1A1A1A"/>
                </a:solidFill>
                <a:latin typeface="Helvetica Neue"/>
              </a:rPr>
              <a:t>Each state (PA / MAC) is tied to its context identity + transition history: a compromised task or ISR cannot substitute, replay, or reuse another context’s measurement state.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5382768" y="243840"/>
            <a:ext cx="0" cy="4511040"/>
          </a:xfrm>
          <a:prstGeom prst="line">
            <a:avLst/>
          </a:prstGeom>
          <a:ln w="22225">
            <a:solidFill>
              <a:srgbClr val="A35112"/>
            </a:solidFill>
            <a:tailEnd type="triangle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743200" y="5010912"/>
            <a:ext cx="0" cy="195072"/>
          </a:xfrm>
          <a:prstGeom prst="line">
            <a:avLst/>
          </a:prstGeom>
          <a:ln w="28575">
            <a:solidFill>
              <a:srgbClr val="3333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834640" y="5047488"/>
            <a:ext cx="1341120" cy="12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Helvetica Neue"/>
              </a:rPr>
              <a:t>authenticated report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480" y="5242560"/>
            <a:ext cx="3901440" cy="731520"/>
          </a:xfrm>
          <a:prstGeom prst="roundRect">
            <a:avLst/>
          </a:prstGeom>
          <a:solidFill>
            <a:srgbClr val="F8F6FC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480" y="5315712"/>
            <a:ext cx="3901440" cy="158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4A3568"/>
                </a:solidFill>
                <a:latin typeface="Helvetica Neue"/>
              </a:rPr>
              <a:t>Verifier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480" y="5486400"/>
            <a:ext cx="3901440" cy="12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A3568"/>
                </a:solidFill>
                <a:latin typeface="Helvetica Neue"/>
              </a:rPr>
              <a:t>intra-context: each task/ISR path is valid 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480" y="5632704"/>
            <a:ext cx="3901440" cy="12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4A3568"/>
                </a:solidFill>
                <a:latin typeface="Helvetica Neue"/>
              </a:rPr>
              <a:t>inter-context: every dispatch/switch/IRQ transition is authorized 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2480" y="5791200"/>
            <a:ext cx="3901440" cy="12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4A3568"/>
                </a:solidFill>
                <a:latin typeface="Helvetica Neue"/>
              </a:rPr>
              <a:t>⇒ authorized interrupt-driven / multitasking execution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" y="6047232"/>
            <a:ext cx="5120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555555"/>
                </a:solidFill>
                <a:latin typeface="Helvetica Neue"/>
              </a:rPr>
              <a:t>Dashed line (right margin): the hardware IRQ is intercepted by the secure NVIC before being dispatched up to the ISR context.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