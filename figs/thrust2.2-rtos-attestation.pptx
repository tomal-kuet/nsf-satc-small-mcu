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5486400" cy="63642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88"/>
  </p:normalViewPr>
  <p:slideViewPr>
    <p:cSldViewPr snapToGrid="0" snapToObjects="1">
      <p:cViewPr varScale="1">
        <p:scale>
          <a:sx n="120" d="100"/>
          <a:sy n="120" d="100"/>
        </p:scale>
        <p:origin x="287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704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91919"/>
                </a:solidFill>
              </a:defRPr>
            </a:pPr>
            <a:r>
              <a:t>Execution timeline with TrustZone boundary and RTOS privilege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80160"/>
            <a:ext cx="8138160" cy="5669280"/>
          </a:xfrm>
          <a:prstGeom prst="roundRect">
            <a:avLst/>
          </a:prstGeom>
          <a:solidFill>
            <a:srgbClr val="F8F8F8"/>
          </a:solidFill>
          <a:ln w="2286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955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91919"/>
                </a:solidFill>
              </a:defRPr>
            </a:pPr>
            <a:r>
              <a:t>Normal World (user + RTOS kernel)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0" y="1280160"/>
            <a:ext cx="5943600" cy="5669280"/>
          </a:xfrm>
          <a:prstGeom prst="roundRect">
            <a:avLst/>
          </a:prstGeom>
          <a:solidFill>
            <a:srgbClr val="E6F5FF"/>
          </a:solidFill>
          <a:ln w="2286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19" y="132588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91919"/>
                </a:solidFill>
              </a:defRPr>
            </a:pPr>
            <a:r>
              <a:t>TrustZone Secure World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035040"/>
            <a:ext cx="13807440" cy="73152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5925312"/>
            <a:ext cx="54864" cy="2286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37360" y="5925312"/>
            <a:ext cx="54864" cy="2286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06039" y="5925312"/>
            <a:ext cx="54864" cy="2286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5925312"/>
            <a:ext cx="54864" cy="2286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5925312"/>
            <a:ext cx="54864" cy="2286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79" y="5925312"/>
            <a:ext cx="54864" cy="2286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59" y="5925312"/>
            <a:ext cx="54864" cy="2286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0" y="5925312"/>
            <a:ext cx="54864" cy="2286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18119" y="5925312"/>
            <a:ext cx="54864" cy="2286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0" y="5925312"/>
            <a:ext cx="54864" cy="2286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55480" y="5925312"/>
            <a:ext cx="54864" cy="2286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24159" y="5925312"/>
            <a:ext cx="54864" cy="2286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92840" y="5925312"/>
            <a:ext cx="54864" cy="2286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19" y="5925312"/>
            <a:ext cx="54864" cy="2286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030200" y="5925312"/>
            <a:ext cx="54864" cy="2286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2011680" cy="1097280"/>
          </a:xfrm>
          <a:prstGeom prst="roundRect">
            <a:avLst/>
          </a:prstGeom>
          <a:solidFill>
            <a:srgbClr val="B4DCFF"/>
          </a:solidFill>
          <a:ln w="2286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b="1" sz="1900"/>
            </a:pPr>
            <a:r>
              <a:t>Task A</a:t>
            </a:r>
          </a:p>
          <a:p>
            <a:pPr algn="ctr">
              <a:defRPr sz="1200"/>
            </a:pPr>
            <a:r>
              <a:t>User mode</a:t>
            </a:r>
            <a:br/>
            <a:r>
              <a:t>PA key KA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26080" y="4114800"/>
            <a:ext cx="1920240" cy="1097280"/>
          </a:xfrm>
          <a:prstGeom prst="roundRect">
            <a:avLst/>
          </a:prstGeom>
          <a:solidFill>
            <a:srgbClr val="FFE4B8"/>
          </a:solidFill>
          <a:ln w="2286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b="1" sz="1900"/>
            </a:pPr>
            <a:r>
              <a:t>Kernel</a:t>
            </a:r>
          </a:p>
          <a:p>
            <a:pPr algn="ctr">
              <a:defRPr sz="1200"/>
            </a:pPr>
            <a:r>
              <a:t>dispatch / schedule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0" y="4114800"/>
            <a:ext cx="1920240" cy="1097280"/>
          </a:xfrm>
          <a:prstGeom prst="roundRect">
            <a:avLst/>
          </a:prstGeom>
          <a:solidFill>
            <a:srgbClr val="C8B4FF"/>
          </a:solidFill>
          <a:ln w="2286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b="1" sz="1900"/>
            </a:pPr>
            <a:r>
              <a:t>ISR</a:t>
            </a:r>
          </a:p>
          <a:p>
            <a:pPr algn="ctr">
              <a:defRPr sz="1200"/>
            </a:pPr>
            <a:r>
              <a:t>IRQ context</a:t>
            </a:r>
            <a:br/>
            <a:r>
              <a:t>PA key K_ISR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06640" y="4114800"/>
            <a:ext cx="2011680" cy="1097280"/>
          </a:xfrm>
          <a:prstGeom prst="roundRect">
            <a:avLst/>
          </a:prstGeom>
          <a:solidFill>
            <a:srgbClr val="B4DCFF"/>
          </a:solidFill>
          <a:ln w="2286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b="1" sz="1900"/>
            </a:pPr>
            <a:r>
              <a:t>Task A</a:t>
            </a:r>
          </a:p>
          <a:p>
            <a:pPr algn="ctr">
              <a:defRPr sz="1200"/>
            </a:pPr>
            <a:r>
              <a:t>resume</a:t>
            </a:r>
            <a:br/>
            <a:r>
              <a:t>PA key KA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0" y="4114800"/>
            <a:ext cx="1920240" cy="1097280"/>
          </a:xfrm>
          <a:prstGeom prst="roundRect">
            <a:avLst/>
          </a:prstGeom>
          <a:solidFill>
            <a:srgbClr val="A0D2F5"/>
          </a:solidFill>
          <a:ln w="2286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b="1" sz="1900"/>
            </a:pPr>
            <a:r>
              <a:t>Task B</a:t>
            </a:r>
          </a:p>
          <a:p>
            <a:pPr algn="ctr">
              <a:defRPr sz="1200"/>
            </a:pPr>
            <a:r>
              <a:t>User mode</a:t>
            </a:r>
            <a:br/>
            <a:r>
              <a:t>PA key KB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52560" y="2286000"/>
            <a:ext cx="1188720" cy="1005840"/>
          </a:xfrm>
          <a:prstGeom prst="roundRect">
            <a:avLst/>
          </a:prstGeom>
          <a:solidFill>
            <a:srgbClr val="C8F0CD"/>
          </a:solidFill>
          <a:ln w="2286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b="1" sz="1900"/>
            </a:pPr>
            <a:r>
              <a:t>save Task A</a:t>
            </a:r>
            <a:br/>
            <a:r>
              <a:t>state</a:t>
            </a:r>
          </a:p>
          <a:p>
            <a:pPr algn="ctr">
              <a:defRPr sz="1200"/>
            </a:pPr>
          </a:p>
        </p:txBody>
      </p:sp>
      <p:sp>
        <p:nvSpPr>
          <p:cNvPr id="29" name="Rounded Rectangle 28"/>
          <p:cNvSpPr/>
          <p:nvPr/>
        </p:nvSpPr>
        <p:spPr>
          <a:xfrm>
            <a:off x="10515600" y="2286000"/>
            <a:ext cx="1280160" cy="1005840"/>
          </a:xfrm>
          <a:prstGeom prst="roundRect">
            <a:avLst/>
          </a:prstGeom>
          <a:solidFill>
            <a:srgbClr val="DCF5DC"/>
          </a:solidFill>
          <a:ln w="2286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b="1" sz="1900"/>
            </a:pPr>
            <a:r>
              <a:t>route IRQ</a:t>
            </a:r>
            <a:br/>
            <a:r>
              <a:t>secure NVIC</a:t>
            </a:r>
          </a:p>
          <a:p>
            <a:pPr algn="ctr">
              <a:defRPr sz="1200"/>
            </a:pPr>
          </a:p>
        </p:txBody>
      </p:sp>
      <p:sp>
        <p:nvSpPr>
          <p:cNvPr id="30" name="Rounded Rectangle 29"/>
          <p:cNvSpPr/>
          <p:nvPr/>
        </p:nvSpPr>
        <p:spPr>
          <a:xfrm>
            <a:off x="12161520" y="2286000"/>
            <a:ext cx="1188720" cy="1005840"/>
          </a:xfrm>
          <a:prstGeom prst="roundRect">
            <a:avLst/>
          </a:prstGeom>
          <a:solidFill>
            <a:srgbClr val="C8F0CD"/>
          </a:solidFill>
          <a:ln w="2286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b="1" sz="1900"/>
            </a:pPr>
            <a:r>
              <a:t>verify resume</a:t>
            </a:r>
            <a:br/>
            <a:r>
              <a:t>state</a:t>
            </a:r>
          </a:p>
          <a:p>
            <a:pPr algn="ctr">
              <a:defRPr sz="1200"/>
            </a:pPr>
          </a:p>
        </p:txBody>
      </p:sp>
      <p:sp>
        <p:nvSpPr>
          <p:cNvPr id="31" name="Rectangle 30"/>
          <p:cNvSpPr/>
          <p:nvPr/>
        </p:nvSpPr>
        <p:spPr>
          <a:xfrm>
            <a:off x="8001000" y="1645920"/>
            <a:ext cx="73152" cy="228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01000" y="2011680"/>
            <a:ext cx="73152" cy="228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01000" y="2377440"/>
            <a:ext cx="73152" cy="228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01000" y="2743200"/>
            <a:ext cx="73152" cy="228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1000" y="3108960"/>
            <a:ext cx="73152" cy="228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01000" y="3474720"/>
            <a:ext cx="73152" cy="228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01000" y="3840480"/>
            <a:ext cx="73152" cy="228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01000" y="4206240"/>
            <a:ext cx="73152" cy="228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01000" y="4572000"/>
            <a:ext cx="73152" cy="228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4937760"/>
            <a:ext cx="73152" cy="228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1000" y="5303520"/>
            <a:ext cx="73152" cy="228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2651760" y="5029200"/>
            <a:ext cx="274320" cy="0"/>
          </a:xfrm>
          <a:prstGeom prst="line">
            <a:avLst/>
          </a:prstGeom>
          <a:ln w="25400">
            <a:solidFill>
              <a:srgbClr val="3737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560320" y="4846320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dispatch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846320" y="5029200"/>
            <a:ext cx="457200" cy="0"/>
          </a:xfrm>
          <a:prstGeom prst="line">
            <a:avLst/>
          </a:prstGeom>
          <a:ln w="25400">
            <a:solidFill>
              <a:srgbClr val="3737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846320" y="4846320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IRQ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223760" y="5029200"/>
            <a:ext cx="182880" cy="0"/>
          </a:xfrm>
          <a:prstGeom prst="line">
            <a:avLst/>
          </a:prstGeom>
          <a:ln w="25400">
            <a:solidFill>
              <a:srgbClr val="3737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086600" y="4846320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resume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418320" y="5029200"/>
            <a:ext cx="182880" cy="0"/>
          </a:xfrm>
          <a:prstGeom prst="line">
            <a:avLst/>
          </a:prstGeom>
          <a:ln w="25400">
            <a:solidFill>
              <a:srgbClr val="3737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281160" y="4846320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switch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372600" y="3291840"/>
            <a:ext cx="0" cy="822960"/>
          </a:xfrm>
          <a:prstGeom prst="line">
            <a:avLst/>
          </a:prstGeom>
          <a:ln w="25400">
            <a:solidFill>
              <a:srgbClr val="3737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064240" y="3291840"/>
            <a:ext cx="0" cy="822960"/>
          </a:xfrm>
          <a:prstGeom prst="line">
            <a:avLst/>
          </a:prstGeom>
          <a:ln w="25400">
            <a:solidFill>
              <a:srgbClr val="3737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2710159" y="3291840"/>
            <a:ext cx="0" cy="822960"/>
          </a:xfrm>
          <a:prstGeom prst="line">
            <a:avLst/>
          </a:prstGeom>
          <a:ln w="25400">
            <a:solidFill>
              <a:srgbClr val="3737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97280" y="37947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t>User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66160" y="37947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t>RTOS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0" y="37947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t>IRQ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46720" y="37947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t>Context switch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64240" y="37947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t>Secure monitor/engine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492240"/>
            <a:ext cx="1353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t>Normal-world execution includes the RTOS kernel; the TrustZone secure world authenticates each interleaving and binds the PA state to the active task/ISR context.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62179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191919"/>
                </a:solidFill>
              </a:defRPr>
            </a:pPr>
            <a:r>
              <a:t>t0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20240" y="62179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191919"/>
                </a:solidFill>
              </a:defRPr>
            </a:pPr>
            <a:r>
              <a:t>t1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0" y="62179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191919"/>
                </a:solidFill>
              </a:defRPr>
            </a:pPr>
            <a:r>
              <a:t>t2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0" y="62179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191919"/>
                </a:solidFill>
              </a:defRPr>
            </a:pPr>
            <a:r>
              <a:t>t3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46720" y="62179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191919"/>
                </a:solidFill>
              </a:defRPr>
            </a:pPr>
            <a:r>
              <a:t>t4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62179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191919"/>
                </a:solidFill>
              </a:defRPr>
            </a:pPr>
            <a:r>
              <a:t>t5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198</Words>
  <Application>Microsoft Macintosh PowerPoint</Application>
  <PresentationFormat>Custom</PresentationFormat>
  <Paragraphs>34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Helvetica Neue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Armanuzzaman, MD</cp:lastModifiedBy>
  <cp:revision>2</cp:revision>
  <dcterms:created xsi:type="dcterms:W3CDTF">2013-01-27T09:14:16Z</dcterms:created>
  <dcterms:modified xsi:type="dcterms:W3CDTF">2026-09-01T16:39:16Z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2026-09-01T16:39:16Z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0ba5f433-31fd-499e-b2b4-4e9fe9aefcb3</vt:lpwstr>
  </property>
  <property fmtid="{D5CDD505-2E9C-101B-9397-08002B2CF9AE}" pid="8" name="MSIP_Label_b73649dc-6fee-4eb8-a128-734c3c842ea8_ContentBits">
    <vt:lpwstr>0</vt:lpwstr>
  </property>
  <property fmtid="{D5CDD505-2E9C-101B-9397-08002B2CF9AE}" pid="9" name="MSIP_Label_b73649dc-6fee-4eb8-a128-734c3c842ea8_Tag">
    <vt:lpwstr>50, 3, 0, 1</vt:lpwstr>
  </property>
</Properties>
</file>