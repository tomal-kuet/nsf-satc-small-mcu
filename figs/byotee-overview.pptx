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3"/>
  </p:notesMasterIdLst>
  <p:sldIdLst>
    <p:sldId id="256" r:id="rId2"/>
  </p:sldIdLst>
  <p:sldSz cx="8439150" cy="457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6"/>
    <p:restoredTop sz="94665"/>
  </p:normalViewPr>
  <p:slideViewPr>
    <p:cSldViewPr snapToGrid="0">
      <p:cViewPr varScale="1">
        <p:scale>
          <a:sx n="194" d="100"/>
          <a:sy n="194" d="100"/>
        </p:scale>
        <p:origin x="400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313A1E-513A-C146-8DB7-A4D1DCEAAF7D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81025" y="1143000"/>
            <a:ext cx="56959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AC9B7D-87E0-7F4F-91D3-79055D2520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172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1pPr>
    <a:lvl2pPr marL="313795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2pPr>
    <a:lvl3pPr marL="627590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3pPr>
    <a:lvl4pPr marL="941384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4pPr>
    <a:lvl5pPr marL="1255178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5pPr>
    <a:lvl6pPr marL="1568973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6pPr>
    <a:lvl7pPr marL="1882768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7pPr>
    <a:lvl8pPr marL="2196563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8pPr>
    <a:lvl9pPr marL="2510357" algn="l" defTabSz="627590" rtl="0" eaLnBrk="1" latinLnBrk="0" hangingPunct="1">
      <a:defRPr sz="82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AC9B7D-87E0-7F4F-91D3-79055D25207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631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4894" y="748242"/>
            <a:ext cx="6329363" cy="1591733"/>
          </a:xfrm>
        </p:spPr>
        <p:txBody>
          <a:bodyPr anchor="b"/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4894" y="2401359"/>
            <a:ext cx="6329363" cy="1103841"/>
          </a:xfrm>
        </p:spPr>
        <p:txBody>
          <a:bodyPr/>
          <a:lstStyle>
            <a:lvl1pPr marL="0" indent="0" algn="ctr">
              <a:buNone/>
              <a:defRPr sz="1600"/>
            </a:lvl1pPr>
            <a:lvl2pPr marL="304815" indent="0" algn="ctr">
              <a:buNone/>
              <a:defRPr sz="1333"/>
            </a:lvl2pPr>
            <a:lvl3pPr marL="609630" indent="0" algn="ctr">
              <a:buNone/>
              <a:defRPr sz="1200"/>
            </a:lvl3pPr>
            <a:lvl4pPr marL="914446" indent="0" algn="ctr">
              <a:buNone/>
              <a:defRPr sz="1067"/>
            </a:lvl4pPr>
            <a:lvl5pPr marL="1219261" indent="0" algn="ctr">
              <a:buNone/>
              <a:defRPr sz="1067"/>
            </a:lvl5pPr>
            <a:lvl6pPr marL="1524076" indent="0" algn="ctr">
              <a:buNone/>
              <a:defRPr sz="1067"/>
            </a:lvl6pPr>
            <a:lvl7pPr marL="1828891" indent="0" algn="ctr">
              <a:buNone/>
              <a:defRPr sz="1067"/>
            </a:lvl7pPr>
            <a:lvl8pPr marL="2133707" indent="0" algn="ctr">
              <a:buNone/>
              <a:defRPr sz="1067"/>
            </a:lvl8pPr>
            <a:lvl9pPr marL="2438522" indent="0" algn="ctr">
              <a:buNone/>
              <a:defRPr sz="106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60900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234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5796" y="1139826"/>
            <a:ext cx="7278767" cy="1901825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5796" y="3059642"/>
            <a:ext cx="7278767" cy="1000125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6059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0191" y="1217083"/>
            <a:ext cx="3586639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72320" y="1217083"/>
            <a:ext cx="3586639" cy="29008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688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243417"/>
            <a:ext cx="7278767" cy="88370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291" y="1120775"/>
            <a:ext cx="3570156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291" y="1670050"/>
            <a:ext cx="3570156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72320" y="1120775"/>
            <a:ext cx="3587738" cy="549275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72320" y="1670050"/>
            <a:ext cx="3587738" cy="24563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39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9903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94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304800"/>
            <a:ext cx="272184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7738" y="658284"/>
            <a:ext cx="4272320" cy="3249083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291" y="1371600"/>
            <a:ext cx="272184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820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291" y="304800"/>
            <a:ext cx="2721845" cy="1066800"/>
          </a:xfrm>
        </p:spPr>
        <p:txBody>
          <a:bodyPr anchor="b"/>
          <a:lstStyle>
            <a:lvl1pPr>
              <a:defRPr sz="213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87738" y="658284"/>
            <a:ext cx="4272320" cy="3249083"/>
          </a:xfrm>
        </p:spPr>
        <p:txBody>
          <a:bodyPr anchor="t"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291" y="1371600"/>
            <a:ext cx="2721845" cy="2541059"/>
          </a:xfrm>
        </p:spPr>
        <p:txBody>
          <a:bodyPr/>
          <a:lstStyle>
            <a:lvl1pPr marL="0" indent="0">
              <a:buNone/>
              <a:defRPr sz="1067"/>
            </a:lvl1pPr>
            <a:lvl2pPr marL="304815" indent="0">
              <a:buNone/>
              <a:defRPr sz="933"/>
            </a:lvl2pPr>
            <a:lvl3pPr marL="609630" indent="0">
              <a:buNone/>
              <a:defRPr sz="800"/>
            </a:lvl3pPr>
            <a:lvl4pPr marL="914446" indent="0">
              <a:buNone/>
              <a:defRPr sz="667"/>
            </a:lvl4pPr>
            <a:lvl5pPr marL="1219261" indent="0">
              <a:buNone/>
              <a:defRPr sz="667"/>
            </a:lvl5pPr>
            <a:lvl6pPr marL="1524076" indent="0">
              <a:buNone/>
              <a:defRPr sz="667"/>
            </a:lvl6pPr>
            <a:lvl7pPr marL="1828891" indent="0">
              <a:buNone/>
              <a:defRPr sz="667"/>
            </a:lvl7pPr>
            <a:lvl8pPr marL="2133707" indent="0">
              <a:buNone/>
              <a:defRPr sz="667"/>
            </a:lvl8pPr>
            <a:lvl9pPr marL="2438522" indent="0">
              <a:buNone/>
              <a:defRPr sz="66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7996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71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39267" y="243416"/>
            <a:ext cx="1819692" cy="387455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80191" y="243416"/>
            <a:ext cx="5353586" cy="387455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116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0192" y="243417"/>
            <a:ext cx="7278767" cy="8837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0192" y="1217083"/>
            <a:ext cx="7278767" cy="29008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80191" y="4237567"/>
            <a:ext cx="1898809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D558A-DF59-A249-A8DD-6F235DCEC2A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95469" y="4237567"/>
            <a:ext cx="2848213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60150" y="4237567"/>
            <a:ext cx="1898809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8A7866-64B9-3143-86EE-FC93833382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9167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Rectangle 333">
            <a:extLst>
              <a:ext uri="{FF2B5EF4-FFF2-40B4-BE49-F238E27FC236}">
                <a16:creationId xmlns:a16="http://schemas.microsoft.com/office/drawing/2014/main" id="{3C99D62E-3BE5-11E7-71DB-A280C3138489}"/>
              </a:ext>
            </a:extLst>
          </p:cNvPr>
          <p:cNvSpPr/>
          <p:nvPr/>
        </p:nvSpPr>
        <p:spPr>
          <a:xfrm>
            <a:off x="26999" y="2150409"/>
            <a:ext cx="1817783" cy="1840773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226593A6-E945-030C-95B9-2DE31EC6AEC5}"/>
              </a:ext>
            </a:extLst>
          </p:cNvPr>
          <p:cNvSpPr txBox="1"/>
          <p:nvPr/>
        </p:nvSpPr>
        <p:spPr>
          <a:xfrm>
            <a:off x="666166" y="1824636"/>
            <a:ext cx="5806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REE</a:t>
            </a:r>
          </a:p>
        </p:txBody>
      </p:sp>
      <p:sp>
        <p:nvSpPr>
          <p:cNvPr id="336" name="Rectangle 335">
            <a:extLst>
              <a:ext uri="{FF2B5EF4-FFF2-40B4-BE49-F238E27FC236}">
                <a16:creationId xmlns:a16="http://schemas.microsoft.com/office/drawing/2014/main" id="{B3ED7124-231D-A022-B854-2E2EFAF99F65}"/>
              </a:ext>
            </a:extLst>
          </p:cNvPr>
          <p:cNvSpPr/>
          <p:nvPr/>
        </p:nvSpPr>
        <p:spPr>
          <a:xfrm>
            <a:off x="1844782" y="2150407"/>
            <a:ext cx="1817783" cy="1840775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0764833B-BF92-F4E7-9806-67CC3B646E4D}"/>
              </a:ext>
            </a:extLst>
          </p:cNvPr>
          <p:cNvSpPr txBox="1"/>
          <p:nvPr/>
        </p:nvSpPr>
        <p:spPr>
          <a:xfrm>
            <a:off x="2483949" y="1824636"/>
            <a:ext cx="551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TEE</a:t>
            </a:r>
          </a:p>
        </p:txBody>
      </p:sp>
      <p:cxnSp>
        <p:nvCxnSpPr>
          <p:cNvPr id="339" name="Straight Connector 338">
            <a:extLst>
              <a:ext uri="{FF2B5EF4-FFF2-40B4-BE49-F238E27FC236}">
                <a16:creationId xmlns:a16="http://schemas.microsoft.com/office/drawing/2014/main" id="{78E2DA62-CEFF-5A1B-E7E6-4DCD654268D5}"/>
              </a:ext>
            </a:extLst>
          </p:cNvPr>
          <p:cNvCxnSpPr/>
          <p:nvPr/>
        </p:nvCxnSpPr>
        <p:spPr>
          <a:xfrm>
            <a:off x="26999" y="3060742"/>
            <a:ext cx="3635566" cy="0"/>
          </a:xfrm>
          <a:prstGeom prst="line">
            <a:avLst/>
          </a:prstGeom>
          <a:ln w="28575" cap="flat" cmpd="sng" algn="ctr">
            <a:solidFill>
              <a:schemeClr val="tx1">
                <a:lumMod val="65000"/>
                <a:lumOff val="35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40" name="TextBox 339">
            <a:extLst>
              <a:ext uri="{FF2B5EF4-FFF2-40B4-BE49-F238E27FC236}">
                <a16:creationId xmlns:a16="http://schemas.microsoft.com/office/drawing/2014/main" id="{7D2D64A7-DA64-1A95-8742-E1B99BD36136}"/>
              </a:ext>
            </a:extLst>
          </p:cNvPr>
          <p:cNvSpPr txBox="1"/>
          <p:nvPr/>
        </p:nvSpPr>
        <p:spPr>
          <a:xfrm>
            <a:off x="457326" y="3141427"/>
            <a:ext cx="11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OS Kernel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D4EF1FB1-0A5E-6D39-A13E-C74B26E2CFE0}"/>
              </a:ext>
            </a:extLst>
          </p:cNvPr>
          <p:cNvSpPr txBox="1"/>
          <p:nvPr/>
        </p:nvSpPr>
        <p:spPr>
          <a:xfrm>
            <a:off x="2264225" y="3130682"/>
            <a:ext cx="747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badi MT Condensed Light" panose="020B0306030101010103" pitchFamily="34" charset="77"/>
              </a:rPr>
              <a:t>TEE OS</a:t>
            </a: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930836F8-28DA-D2D0-DA03-02F670A604F0}"/>
              </a:ext>
            </a:extLst>
          </p:cNvPr>
          <p:cNvSpPr txBox="1"/>
          <p:nvPr/>
        </p:nvSpPr>
        <p:spPr>
          <a:xfrm>
            <a:off x="197946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Untrusted </a:t>
            </a:r>
          </a:p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Application/s</a:t>
            </a:r>
            <a:endParaRPr lang="en-US" i="1" baseline="-25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343" name="Picture 342">
            <a:extLst>
              <a:ext uri="{FF2B5EF4-FFF2-40B4-BE49-F238E27FC236}">
                <a16:creationId xmlns:a16="http://schemas.microsoft.com/office/drawing/2014/main" id="{5793A1FF-B880-96D8-A4EE-16281EF060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612" y="3999114"/>
            <a:ext cx="476250" cy="304800"/>
          </a:xfrm>
          <a:prstGeom prst="rect">
            <a:avLst/>
          </a:prstGeom>
        </p:spPr>
      </p:pic>
      <p:pic>
        <p:nvPicPr>
          <p:cNvPr id="344" name="Picture 343">
            <a:extLst>
              <a:ext uri="{FF2B5EF4-FFF2-40B4-BE49-F238E27FC236}">
                <a16:creationId xmlns:a16="http://schemas.microsoft.com/office/drawing/2014/main" id="{BDA21244-4B20-F7DA-D66B-EBC1B2DE1C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2193" y="3999114"/>
            <a:ext cx="270809" cy="301885"/>
          </a:xfrm>
          <a:prstGeom prst="rect">
            <a:avLst/>
          </a:prstGeom>
        </p:spPr>
      </p:pic>
      <p:pic>
        <p:nvPicPr>
          <p:cNvPr id="345" name="Picture 344">
            <a:extLst>
              <a:ext uri="{FF2B5EF4-FFF2-40B4-BE49-F238E27FC236}">
                <a16:creationId xmlns:a16="http://schemas.microsoft.com/office/drawing/2014/main" id="{523F35E0-A14E-A907-EF2E-837382F9D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0553" y="3999114"/>
            <a:ext cx="337106" cy="301886"/>
          </a:xfrm>
          <a:prstGeom prst="rect">
            <a:avLst/>
          </a:prstGeom>
        </p:spPr>
      </p:pic>
      <p:sp>
        <p:nvSpPr>
          <p:cNvPr id="347" name="TextBox 346">
            <a:extLst>
              <a:ext uri="{FF2B5EF4-FFF2-40B4-BE49-F238E27FC236}">
                <a16:creationId xmlns:a16="http://schemas.microsoft.com/office/drawing/2014/main" id="{E28681F4-7788-5472-B415-00395EFEFC7D}"/>
              </a:ext>
            </a:extLst>
          </p:cNvPr>
          <p:cNvSpPr txBox="1"/>
          <p:nvPr/>
        </p:nvSpPr>
        <p:spPr>
          <a:xfrm>
            <a:off x="4234577" y="-85539"/>
            <a:ext cx="1037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REE</a:t>
            </a:r>
            <a:r>
              <a:rPr lang="en-US" dirty="0"/>
              <a:t>(</a:t>
            </a:r>
            <a:r>
              <a:rPr lang="en-US" i="1" dirty="0"/>
              <a:t>PS</a:t>
            </a:r>
            <a:r>
              <a:rPr lang="en-US" dirty="0"/>
              <a:t>)</a:t>
            </a:r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E7646C79-71F1-17D4-F88E-89B1A54A9529}"/>
              </a:ext>
            </a:extLst>
          </p:cNvPr>
          <p:cNvSpPr txBox="1"/>
          <p:nvPr/>
        </p:nvSpPr>
        <p:spPr>
          <a:xfrm>
            <a:off x="6454780" y="-74465"/>
            <a:ext cx="1393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TEE </a:t>
            </a:r>
            <a:r>
              <a:rPr lang="en-US" dirty="0"/>
              <a:t>(</a:t>
            </a:r>
            <a:r>
              <a:rPr lang="en-US" i="1" dirty="0"/>
              <a:t>FPGA</a:t>
            </a:r>
            <a:r>
              <a:rPr lang="en-US" dirty="0"/>
              <a:t>)</a:t>
            </a:r>
          </a:p>
        </p:txBody>
      </p:sp>
      <p:cxnSp>
        <p:nvCxnSpPr>
          <p:cNvPr id="349" name="Straight Connector 348">
            <a:extLst>
              <a:ext uri="{FF2B5EF4-FFF2-40B4-BE49-F238E27FC236}">
                <a16:creationId xmlns:a16="http://schemas.microsoft.com/office/drawing/2014/main" id="{F1919514-F88E-B59D-E32F-F68140C270DA}"/>
              </a:ext>
            </a:extLst>
          </p:cNvPr>
          <p:cNvCxnSpPr>
            <a:cxnSpLocks/>
          </p:cNvCxnSpPr>
          <p:nvPr/>
        </p:nvCxnSpPr>
        <p:spPr>
          <a:xfrm>
            <a:off x="3806182" y="3060742"/>
            <a:ext cx="1817783" cy="0"/>
          </a:xfrm>
          <a:prstGeom prst="line">
            <a:avLst/>
          </a:prstGeom>
          <a:ln w="2857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50" name="TextBox 349">
            <a:extLst>
              <a:ext uri="{FF2B5EF4-FFF2-40B4-BE49-F238E27FC236}">
                <a16:creationId xmlns:a16="http://schemas.microsoft.com/office/drawing/2014/main" id="{96DED56F-CCD3-21C6-6423-5F9073CD3B2C}"/>
              </a:ext>
            </a:extLst>
          </p:cNvPr>
          <p:cNvSpPr txBox="1"/>
          <p:nvPr/>
        </p:nvSpPr>
        <p:spPr>
          <a:xfrm>
            <a:off x="4145326" y="3304694"/>
            <a:ext cx="1163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OS Kernel</a:t>
            </a:r>
          </a:p>
        </p:txBody>
      </p:sp>
      <p:pic>
        <p:nvPicPr>
          <p:cNvPr id="351" name="Picture 350">
            <a:extLst>
              <a:ext uri="{FF2B5EF4-FFF2-40B4-BE49-F238E27FC236}">
                <a16:creationId xmlns:a16="http://schemas.microsoft.com/office/drawing/2014/main" id="{846CAEFA-2FA1-B704-6742-924E2B8404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5154" y="3999114"/>
            <a:ext cx="476250" cy="304800"/>
          </a:xfrm>
          <a:prstGeom prst="rect">
            <a:avLst/>
          </a:prstGeom>
        </p:spPr>
      </p:pic>
      <p:pic>
        <p:nvPicPr>
          <p:cNvPr id="352" name="Picture 351">
            <a:extLst>
              <a:ext uri="{FF2B5EF4-FFF2-40B4-BE49-F238E27FC236}">
                <a16:creationId xmlns:a16="http://schemas.microsoft.com/office/drawing/2014/main" id="{BD939624-4926-1C62-15FD-E3C5AC2AB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4049" y="3999114"/>
            <a:ext cx="270809" cy="301885"/>
          </a:xfrm>
          <a:prstGeom prst="rect">
            <a:avLst/>
          </a:prstGeom>
        </p:spPr>
      </p:pic>
      <p:pic>
        <p:nvPicPr>
          <p:cNvPr id="353" name="Picture 352">
            <a:extLst>
              <a:ext uri="{FF2B5EF4-FFF2-40B4-BE49-F238E27FC236}">
                <a16:creationId xmlns:a16="http://schemas.microsoft.com/office/drawing/2014/main" id="{DEB9E940-EBA6-2700-0320-11E6EEFB88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849" y="3999114"/>
            <a:ext cx="337106" cy="301886"/>
          </a:xfrm>
          <a:prstGeom prst="rect">
            <a:avLst/>
          </a:prstGeom>
        </p:spPr>
      </p:pic>
      <p:sp>
        <p:nvSpPr>
          <p:cNvPr id="354" name="Rectangle 353">
            <a:extLst>
              <a:ext uri="{FF2B5EF4-FFF2-40B4-BE49-F238E27FC236}">
                <a16:creationId xmlns:a16="http://schemas.microsoft.com/office/drawing/2014/main" id="{2C7431D1-17ED-1CC8-38FA-CEAD6A090B87}"/>
              </a:ext>
            </a:extLst>
          </p:cNvPr>
          <p:cNvSpPr/>
          <p:nvPr/>
        </p:nvSpPr>
        <p:spPr>
          <a:xfrm rot="16200000">
            <a:off x="4552695" y="1737869"/>
            <a:ext cx="3400389" cy="42062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     Isolated CPU, Memory, Cache</a:t>
            </a:r>
            <a:endParaRPr lang="en-US" dirty="0"/>
          </a:p>
        </p:txBody>
      </p:sp>
      <p:sp>
        <p:nvSpPr>
          <p:cNvPr id="355" name="Rectangle 354">
            <a:extLst>
              <a:ext uri="{FF2B5EF4-FFF2-40B4-BE49-F238E27FC236}">
                <a16:creationId xmlns:a16="http://schemas.microsoft.com/office/drawing/2014/main" id="{06C0C959-3086-6794-E7D8-1372B09C77B9}"/>
              </a:ext>
            </a:extLst>
          </p:cNvPr>
          <p:cNvSpPr/>
          <p:nvPr/>
        </p:nvSpPr>
        <p:spPr>
          <a:xfrm rot="16200000">
            <a:off x="4972975" y="1738821"/>
            <a:ext cx="3402901" cy="42123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FIRMWARE</a:t>
            </a:r>
            <a:endParaRPr lang="en-US" dirty="0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8AD09888-147D-1B1D-05EA-3EFC29706E67}"/>
              </a:ext>
            </a:extLst>
          </p:cNvPr>
          <p:cNvSpPr txBox="1"/>
          <p:nvPr/>
        </p:nvSpPr>
        <p:spPr>
          <a:xfrm>
            <a:off x="3976659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/>
              <a:t>Untrusted </a:t>
            </a:r>
          </a:p>
          <a:p>
            <a:pPr algn="ctr"/>
            <a:r>
              <a:rPr lang="en-US" i="1" dirty="0"/>
              <a:t>Application/s</a:t>
            </a:r>
            <a:endParaRPr lang="en-US" i="1" baseline="-25000" dirty="0"/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E916A360-99C1-CDE2-39E9-2878319E6384}"/>
              </a:ext>
            </a:extLst>
          </p:cNvPr>
          <p:cNvSpPr txBox="1"/>
          <p:nvPr/>
        </p:nvSpPr>
        <p:spPr>
          <a:xfrm>
            <a:off x="1946638" y="2310430"/>
            <a:ext cx="15003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Trusted </a:t>
            </a:r>
          </a:p>
          <a:p>
            <a:pPr algn="ctr"/>
            <a:r>
              <a:rPr lang="en-US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Application/s</a:t>
            </a:r>
            <a:endParaRPr lang="en-US" i="1" baseline="-25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9CE1E259-27C8-96B5-F322-6A741E0A4039}"/>
              </a:ext>
            </a:extLst>
          </p:cNvPr>
          <p:cNvSpPr txBox="1"/>
          <p:nvPr/>
        </p:nvSpPr>
        <p:spPr>
          <a:xfrm rot="16200000">
            <a:off x="6746659" y="1741973"/>
            <a:ext cx="38183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/>
              <a:t>…</a:t>
            </a:r>
          </a:p>
        </p:txBody>
      </p:sp>
      <p:sp>
        <p:nvSpPr>
          <p:cNvPr id="359" name="Rectangle 358">
            <a:extLst>
              <a:ext uri="{FF2B5EF4-FFF2-40B4-BE49-F238E27FC236}">
                <a16:creationId xmlns:a16="http://schemas.microsoft.com/office/drawing/2014/main" id="{EE808548-CB0A-5F36-BEFE-248E61B56C14}"/>
              </a:ext>
            </a:extLst>
          </p:cNvPr>
          <p:cNvSpPr/>
          <p:nvPr/>
        </p:nvSpPr>
        <p:spPr>
          <a:xfrm>
            <a:off x="7150636" y="247986"/>
            <a:ext cx="420624" cy="340290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D45BF61F-857A-3B37-A8E3-5DCCC50A9F88}"/>
              </a:ext>
            </a:extLst>
          </p:cNvPr>
          <p:cNvSpPr/>
          <p:nvPr/>
        </p:nvSpPr>
        <p:spPr>
          <a:xfrm rot="16200000">
            <a:off x="6083412" y="1738822"/>
            <a:ext cx="3402904" cy="4212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     Isolated CPU, Memory, Cache</a:t>
            </a:r>
            <a:endParaRPr lang="en-US" dirty="0"/>
          </a:p>
        </p:txBody>
      </p:sp>
      <p:sp>
        <p:nvSpPr>
          <p:cNvPr id="361" name="Rectangle 360">
            <a:extLst>
              <a:ext uri="{FF2B5EF4-FFF2-40B4-BE49-F238E27FC236}">
                <a16:creationId xmlns:a16="http://schemas.microsoft.com/office/drawing/2014/main" id="{78319D1F-AD19-F1D9-6C45-B87558F55B3B}"/>
              </a:ext>
            </a:extLst>
          </p:cNvPr>
          <p:cNvSpPr/>
          <p:nvPr/>
        </p:nvSpPr>
        <p:spPr>
          <a:xfrm rot="16200000">
            <a:off x="6504644" y="1738822"/>
            <a:ext cx="3402904" cy="4212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FIRMWARE</a:t>
            </a:r>
            <a:endParaRPr lang="en-US" dirty="0">
              <a:latin typeface="Abadi MT Condensed Light" panose="020B0306030101010103" pitchFamily="34" charset="77"/>
            </a:endParaRPr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ABE84E33-2D72-58C9-6919-831F9D322C9C}"/>
              </a:ext>
            </a:extLst>
          </p:cNvPr>
          <p:cNvSpPr/>
          <p:nvPr/>
        </p:nvSpPr>
        <p:spPr>
          <a:xfrm>
            <a:off x="5619455" y="247986"/>
            <a:ext cx="420624" cy="34029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DAB50401-FC4F-63EB-8608-023AAC9A69BB}"/>
              </a:ext>
            </a:extLst>
          </p:cNvPr>
          <p:cNvSpPr/>
          <p:nvPr/>
        </p:nvSpPr>
        <p:spPr>
          <a:xfrm>
            <a:off x="6885043" y="247986"/>
            <a:ext cx="265594" cy="406646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DDB4CE1A-5BC1-DBAF-6021-51665F8C60A1}"/>
              </a:ext>
            </a:extLst>
          </p:cNvPr>
          <p:cNvSpPr txBox="1"/>
          <p:nvPr/>
        </p:nvSpPr>
        <p:spPr>
          <a:xfrm rot="16200000">
            <a:off x="4756889" y="1688257"/>
            <a:ext cx="2152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Trusted Application</a:t>
            </a:r>
            <a:endParaRPr lang="en-US" i="1" baseline="-250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BDA18C57-D438-BA26-68F2-B7A8B51CB8F8}"/>
              </a:ext>
            </a:extLst>
          </p:cNvPr>
          <p:cNvSpPr txBox="1"/>
          <p:nvPr/>
        </p:nvSpPr>
        <p:spPr>
          <a:xfrm rot="16200000">
            <a:off x="6270628" y="1688257"/>
            <a:ext cx="2152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Trusted Application</a:t>
            </a:r>
            <a:endParaRPr lang="en-US" i="1" baseline="-25000" dirty="0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4E6635A9-CD44-E80C-26C1-33BDB91965F8}"/>
              </a:ext>
            </a:extLst>
          </p:cNvPr>
          <p:cNvSpPr/>
          <p:nvPr/>
        </p:nvSpPr>
        <p:spPr>
          <a:xfrm>
            <a:off x="5619455" y="3334251"/>
            <a:ext cx="1262113" cy="330394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Enclave</a:t>
            </a:r>
            <a:r>
              <a:rPr lang="en-US" baseline="-25000" dirty="0">
                <a:solidFill>
                  <a:schemeClr val="tx1"/>
                </a:solidFill>
              </a:rPr>
              <a:t>1</a:t>
            </a:r>
            <a:endParaRPr lang="en-US" baseline="-25000" dirty="0"/>
          </a:p>
        </p:txBody>
      </p:sp>
      <p:sp>
        <p:nvSpPr>
          <p:cNvPr id="367" name="Rectangle 366">
            <a:extLst>
              <a:ext uri="{FF2B5EF4-FFF2-40B4-BE49-F238E27FC236}">
                <a16:creationId xmlns:a16="http://schemas.microsoft.com/office/drawing/2014/main" id="{01B41EE5-6DAC-A805-11B9-B3825941BFCB}"/>
              </a:ext>
            </a:extLst>
          </p:cNvPr>
          <p:cNvSpPr/>
          <p:nvPr/>
        </p:nvSpPr>
        <p:spPr>
          <a:xfrm>
            <a:off x="7154112" y="3324163"/>
            <a:ext cx="1262600" cy="330394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Enclave</a:t>
            </a:r>
            <a:r>
              <a:rPr lang="en-US" baseline="-25000" dirty="0" err="1">
                <a:solidFill>
                  <a:schemeClr val="tx1"/>
                </a:solidFill>
              </a:rPr>
              <a:t>n</a:t>
            </a:r>
            <a:endParaRPr lang="en-US" baseline="-25000" dirty="0"/>
          </a:p>
        </p:txBody>
      </p:sp>
      <p:pic>
        <p:nvPicPr>
          <p:cNvPr id="368" name="Picture 367">
            <a:extLst>
              <a:ext uri="{FF2B5EF4-FFF2-40B4-BE49-F238E27FC236}">
                <a16:creationId xmlns:a16="http://schemas.microsoft.com/office/drawing/2014/main" id="{04BE16B2-F406-BF4C-E21B-6D00394C96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7412" y="3999114"/>
            <a:ext cx="382189" cy="302710"/>
          </a:xfrm>
          <a:prstGeom prst="rect">
            <a:avLst/>
          </a:prstGeom>
        </p:spPr>
      </p:pic>
      <p:sp>
        <p:nvSpPr>
          <p:cNvPr id="369" name="Rectangle 368">
            <a:extLst>
              <a:ext uri="{FF2B5EF4-FFF2-40B4-BE49-F238E27FC236}">
                <a16:creationId xmlns:a16="http://schemas.microsoft.com/office/drawing/2014/main" id="{D76F7847-1AD5-0010-A062-DE96BFECD493}"/>
              </a:ext>
            </a:extLst>
          </p:cNvPr>
          <p:cNvSpPr/>
          <p:nvPr/>
        </p:nvSpPr>
        <p:spPr>
          <a:xfrm>
            <a:off x="5623964" y="3655909"/>
            <a:ext cx="2792747" cy="330394"/>
          </a:xfrm>
          <a:prstGeom prst="rect">
            <a:avLst/>
          </a:prstGeom>
          <a:solidFill>
            <a:schemeClr val="bg1">
              <a:lumMod val="8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FCM, HW-ATT</a:t>
            </a:r>
            <a:endParaRPr lang="en-US" b="1" baseline="-25000" dirty="0">
              <a:latin typeface="Abadi MT Condensed Light" panose="020B0306030101010103" pitchFamily="34" charset="77"/>
            </a:endParaRPr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9BF2C618-2BB0-B48E-78CE-86C446E9A305}"/>
              </a:ext>
            </a:extLst>
          </p:cNvPr>
          <p:cNvSpPr/>
          <p:nvPr/>
        </p:nvSpPr>
        <p:spPr>
          <a:xfrm>
            <a:off x="5619454" y="3986563"/>
            <a:ext cx="1262113" cy="330394"/>
          </a:xfrm>
          <a:prstGeom prst="rect">
            <a:avLst/>
          </a:prstGeom>
          <a:noFill/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pic>
        <p:nvPicPr>
          <p:cNvPr id="372" name="Picture 371">
            <a:extLst>
              <a:ext uri="{FF2B5EF4-FFF2-40B4-BE49-F238E27FC236}">
                <a16:creationId xmlns:a16="http://schemas.microsoft.com/office/drawing/2014/main" id="{78E24BDC-65D0-4B8F-F70B-CCECF5C3E0B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9543" y="3999114"/>
            <a:ext cx="294969" cy="310493"/>
          </a:xfrm>
          <a:prstGeom prst="rect">
            <a:avLst/>
          </a:prstGeom>
        </p:spPr>
      </p:pic>
      <p:pic>
        <p:nvPicPr>
          <p:cNvPr id="373" name="Picture 372">
            <a:extLst>
              <a:ext uri="{FF2B5EF4-FFF2-40B4-BE49-F238E27FC236}">
                <a16:creationId xmlns:a16="http://schemas.microsoft.com/office/drawing/2014/main" id="{70F24E84-F4B2-582D-3990-768F0DE08ED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81344" y="3999114"/>
            <a:ext cx="294969" cy="310493"/>
          </a:xfrm>
          <a:prstGeom prst="rect">
            <a:avLst/>
          </a:prstGeom>
        </p:spPr>
      </p:pic>
      <p:pic>
        <p:nvPicPr>
          <p:cNvPr id="375" name="Picture 374">
            <a:extLst>
              <a:ext uri="{FF2B5EF4-FFF2-40B4-BE49-F238E27FC236}">
                <a16:creationId xmlns:a16="http://schemas.microsoft.com/office/drawing/2014/main" id="{628BE4D7-290E-9370-B6FE-6865EC9DE7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0683" y="3999114"/>
            <a:ext cx="382189" cy="302710"/>
          </a:xfrm>
          <a:prstGeom prst="rect">
            <a:avLst/>
          </a:prstGeom>
        </p:spPr>
      </p:pic>
      <p:sp>
        <p:nvSpPr>
          <p:cNvPr id="377" name="TextBox 376">
            <a:extLst>
              <a:ext uri="{FF2B5EF4-FFF2-40B4-BE49-F238E27FC236}">
                <a16:creationId xmlns:a16="http://schemas.microsoft.com/office/drawing/2014/main" id="{39D224A1-D83C-C914-48DB-4A999E6D56F4}"/>
              </a:ext>
            </a:extLst>
          </p:cNvPr>
          <p:cNvSpPr txBox="1"/>
          <p:nvPr/>
        </p:nvSpPr>
        <p:spPr>
          <a:xfrm>
            <a:off x="1088514" y="4265143"/>
            <a:ext cx="14970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General TEEs</a:t>
            </a:r>
          </a:p>
        </p:txBody>
      </p:sp>
      <p:sp>
        <p:nvSpPr>
          <p:cNvPr id="378" name="TextBox 377">
            <a:extLst>
              <a:ext uri="{FF2B5EF4-FFF2-40B4-BE49-F238E27FC236}">
                <a16:creationId xmlns:a16="http://schemas.microsoft.com/office/drawing/2014/main" id="{4245879D-FF1B-C903-CF26-6AFF3B3A3171}"/>
              </a:ext>
            </a:extLst>
          </p:cNvPr>
          <p:cNvSpPr txBox="1"/>
          <p:nvPr/>
        </p:nvSpPr>
        <p:spPr>
          <a:xfrm>
            <a:off x="5242859" y="4265143"/>
            <a:ext cx="2018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Abadi MT Condensed Light" panose="020B0306030101010103" pitchFamily="34" charset="77"/>
              </a:rPr>
              <a:t>BYOT</a:t>
            </a:r>
            <a:r>
              <a:rPr lang="en-US" sz="1600" b="1" dirty="0">
                <a:latin typeface="Abadi MT Condensed Light" panose="020B0306030101010103" pitchFamily="34" charset="77"/>
              </a:rPr>
              <a:t>EE</a:t>
            </a:r>
            <a:r>
              <a:rPr lang="en-US" b="1" dirty="0"/>
              <a:t> Framework</a:t>
            </a:r>
          </a:p>
        </p:txBody>
      </p:sp>
      <p:sp>
        <p:nvSpPr>
          <p:cNvPr id="379" name="Rectangle 378">
            <a:extLst>
              <a:ext uri="{FF2B5EF4-FFF2-40B4-BE49-F238E27FC236}">
                <a16:creationId xmlns:a16="http://schemas.microsoft.com/office/drawing/2014/main" id="{CFD73C85-32AE-808E-B462-81C264C84DD0}"/>
              </a:ext>
            </a:extLst>
          </p:cNvPr>
          <p:cNvSpPr/>
          <p:nvPr/>
        </p:nvSpPr>
        <p:spPr>
          <a:xfrm>
            <a:off x="24898" y="247986"/>
            <a:ext cx="3635566" cy="1576650"/>
          </a:xfrm>
          <a:prstGeom prst="rect">
            <a:avLst/>
          </a:prstGeom>
          <a:noFill/>
          <a:ln w="19050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7AEF56F1-28EA-B48A-1D3D-EFC9FE9DF61B}"/>
              </a:ext>
            </a:extLst>
          </p:cNvPr>
          <p:cNvSpPr txBox="1"/>
          <p:nvPr/>
        </p:nvSpPr>
        <p:spPr>
          <a:xfrm>
            <a:off x="61318" y="574291"/>
            <a:ext cx="3579725" cy="12926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1</a:t>
            </a:r>
            <a:r>
              <a:rPr lang="en-US" sz="1800" dirty="0">
                <a:latin typeface="Abadi MT Condensed Light" panose="020B0306030101010103" pitchFamily="34" charset="77"/>
              </a:rPr>
              <a:t>. </a:t>
            </a:r>
            <a:r>
              <a:rPr lang="en-US" sz="1800" b="1" dirty="0">
                <a:latin typeface="Abadi MT Condensed Light" panose="020B0306030101010103" pitchFamily="34" charset="77"/>
              </a:rPr>
              <a:t>FCM</a:t>
            </a:r>
            <a:r>
              <a:rPr lang="en-US" sz="1800" dirty="0">
                <a:latin typeface="Abadi MT Condensed Light" panose="020B0306030101010103" pitchFamily="34" charset="77"/>
              </a:rPr>
              <a:t>: </a:t>
            </a:r>
            <a:r>
              <a:rPr lang="en-US" sz="1400" dirty="0"/>
              <a:t>Configures and measures the TEE 	FPGA hardware- </a:t>
            </a:r>
            <a:r>
              <a:rPr lang="en-US" sz="1400" b="1" i="1" dirty="0"/>
              <a:t>A</a:t>
            </a:r>
            <a:r>
              <a:rPr lang="en-US" sz="1400" b="1" i="1" baseline="-25000" dirty="0"/>
              <a:t>H</a:t>
            </a:r>
          </a:p>
          <a:p>
            <a:r>
              <a:rPr lang="en-US" sz="1800" dirty="0">
                <a:solidFill>
                  <a:schemeClr val="tx1"/>
                </a:solidFill>
              </a:rPr>
              <a:t>2. </a:t>
            </a:r>
            <a:r>
              <a:rPr lang="en-US" sz="1800" b="1" dirty="0">
                <a:solidFill>
                  <a:schemeClr val="tx1"/>
                </a:solidFill>
                <a:latin typeface="Abadi MT Condensed Light" panose="020B0306030101010103" pitchFamily="34" charset="77"/>
              </a:rPr>
              <a:t>HW-ATT: </a:t>
            </a:r>
            <a:r>
              <a:rPr lang="en-US" sz="1400" dirty="0">
                <a:solidFill>
                  <a:schemeClr val="tx1"/>
                </a:solidFill>
              </a:rPr>
              <a:t>Measures TEE software   	components - </a:t>
            </a:r>
            <a:r>
              <a:rPr lang="en-US" sz="1400" b="1" i="1" dirty="0">
                <a:solidFill>
                  <a:schemeClr val="tx1"/>
                </a:solidFill>
              </a:rPr>
              <a:t>A</a:t>
            </a:r>
            <a:r>
              <a:rPr lang="en-US" sz="1400" b="1" i="1" baseline="-25000" dirty="0">
                <a:solidFill>
                  <a:schemeClr val="tx1"/>
                </a:solidFill>
              </a:rPr>
              <a:t>S</a:t>
            </a:r>
            <a:r>
              <a:rPr lang="en-US" sz="1400" b="1" i="1" dirty="0">
                <a:solidFill>
                  <a:schemeClr val="tx1"/>
                </a:solidFill>
              </a:rPr>
              <a:t> </a:t>
            </a:r>
            <a:r>
              <a:rPr lang="en-US" sz="1400" dirty="0"/>
              <a:t>and combines with</a:t>
            </a:r>
          </a:p>
          <a:p>
            <a:r>
              <a:rPr lang="en-US" sz="1400" b="1" i="1" dirty="0"/>
              <a:t>	A</a:t>
            </a:r>
            <a:r>
              <a:rPr lang="en-US" sz="1400" b="1" i="1" baseline="-25000" dirty="0"/>
              <a:t>H</a:t>
            </a:r>
            <a:r>
              <a:rPr lang="en-US" sz="1400" i="1" dirty="0"/>
              <a:t>  for verification - </a:t>
            </a:r>
            <a:r>
              <a:rPr lang="en-US" sz="1400" b="1" i="1" dirty="0"/>
              <a:t>A</a:t>
            </a:r>
            <a:r>
              <a:rPr lang="en-US" sz="1400" b="1" i="1" baseline="-25000" dirty="0"/>
              <a:t>TEE</a:t>
            </a: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45CC5B7-D6F3-8E4F-3F80-B5A6BF0AE087}"/>
              </a:ext>
            </a:extLst>
          </p:cNvPr>
          <p:cNvSpPr txBox="1"/>
          <p:nvPr/>
        </p:nvSpPr>
        <p:spPr>
          <a:xfrm>
            <a:off x="567212" y="250903"/>
            <a:ext cx="2706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TEE Trust Establishment</a:t>
            </a:r>
          </a:p>
        </p:txBody>
      </p:sp>
      <p:sp>
        <p:nvSpPr>
          <p:cNvPr id="383" name="Rectangle 382">
            <a:extLst>
              <a:ext uri="{FF2B5EF4-FFF2-40B4-BE49-F238E27FC236}">
                <a16:creationId xmlns:a16="http://schemas.microsoft.com/office/drawing/2014/main" id="{4D0AB89E-9134-E455-8346-5899B6211C55}"/>
              </a:ext>
            </a:extLst>
          </p:cNvPr>
          <p:cNvSpPr/>
          <p:nvPr/>
        </p:nvSpPr>
        <p:spPr>
          <a:xfrm>
            <a:off x="26999" y="3569951"/>
            <a:ext cx="3635566" cy="421232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Shared CPU, Memory, Cache, Peripherals</a:t>
            </a:r>
          </a:p>
        </p:txBody>
      </p:sp>
      <p:sp>
        <p:nvSpPr>
          <p:cNvPr id="384" name="Rectangle 383">
            <a:extLst>
              <a:ext uri="{FF2B5EF4-FFF2-40B4-BE49-F238E27FC236}">
                <a16:creationId xmlns:a16="http://schemas.microsoft.com/office/drawing/2014/main" id="{010A9013-3CC2-4B2D-88BA-EDD5C6628DE9}"/>
              </a:ext>
            </a:extLst>
          </p:cNvPr>
          <p:cNvSpPr/>
          <p:nvPr/>
        </p:nvSpPr>
        <p:spPr>
          <a:xfrm>
            <a:off x="24896" y="3986563"/>
            <a:ext cx="3643822" cy="330394"/>
          </a:xfrm>
          <a:prstGeom prst="rect">
            <a:avLst/>
          </a:prstGeom>
          <a:noFill/>
          <a:ln w="28575">
            <a:solidFill>
              <a:schemeClr val="tx1">
                <a:lumMod val="65000"/>
                <a:lumOff val="35000"/>
              </a:schemeClr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386" name="Rectangle 385">
            <a:extLst>
              <a:ext uri="{FF2B5EF4-FFF2-40B4-BE49-F238E27FC236}">
                <a16:creationId xmlns:a16="http://schemas.microsoft.com/office/drawing/2014/main" id="{C14F593E-1A08-B010-9405-47C5804304E6}"/>
              </a:ext>
            </a:extLst>
          </p:cNvPr>
          <p:cNvSpPr/>
          <p:nvPr/>
        </p:nvSpPr>
        <p:spPr>
          <a:xfrm>
            <a:off x="7150636" y="3986563"/>
            <a:ext cx="1262113" cy="330394"/>
          </a:xfrm>
          <a:prstGeom prst="rect">
            <a:avLst/>
          </a:prstGeom>
          <a:noFill/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  <p:sp>
        <p:nvSpPr>
          <p:cNvPr id="387" name="Rectangle 386">
            <a:extLst>
              <a:ext uri="{FF2B5EF4-FFF2-40B4-BE49-F238E27FC236}">
                <a16:creationId xmlns:a16="http://schemas.microsoft.com/office/drawing/2014/main" id="{DAA6B54B-636D-36AD-71FD-CFB71A7D9BEE}"/>
              </a:ext>
            </a:extLst>
          </p:cNvPr>
          <p:cNvSpPr/>
          <p:nvPr/>
        </p:nvSpPr>
        <p:spPr>
          <a:xfrm>
            <a:off x="3806182" y="247986"/>
            <a:ext cx="1817783" cy="373752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x</a:t>
            </a:r>
          </a:p>
        </p:txBody>
      </p:sp>
      <p:sp>
        <p:nvSpPr>
          <p:cNvPr id="388" name="Rectangle 387">
            <a:extLst>
              <a:ext uri="{FF2B5EF4-FFF2-40B4-BE49-F238E27FC236}">
                <a16:creationId xmlns:a16="http://schemas.microsoft.com/office/drawing/2014/main" id="{19155726-7DFD-B8C4-A32C-795573A45990}"/>
              </a:ext>
            </a:extLst>
          </p:cNvPr>
          <p:cNvSpPr/>
          <p:nvPr/>
        </p:nvSpPr>
        <p:spPr>
          <a:xfrm>
            <a:off x="3808040" y="3986563"/>
            <a:ext cx="1815923" cy="330394"/>
          </a:xfrm>
          <a:prstGeom prst="rect">
            <a:avLst/>
          </a:prstGeom>
          <a:noFill/>
          <a:ln w="28575">
            <a:solidFill>
              <a:schemeClr val="tx1"/>
            </a:solidFill>
            <a:prstDash val="solid"/>
            <a:extLst>
              <a:ext uri="{C807C97D-BFC1-408E-A445-0C87EB9F89A2}">
                <ask:lineSketchStyleProps xmlns:ask="http://schemas.microsoft.com/office/drawing/2018/sketchyshapes"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35041406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135</TotalTime>
  <Words>104</Words>
  <Application>Microsoft Macintosh PowerPoint</Application>
  <PresentationFormat>Custom</PresentationFormat>
  <Paragraphs>32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Abadi MT Condensed Light</vt:lpstr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Armanuzzaman, MD</dc:creator>
  <cp:lastModifiedBy>Armanuzzaman, MD</cp:lastModifiedBy>
  <cp:revision>12</cp:revision>
  <dcterms:created xsi:type="dcterms:W3CDTF">2026-08-21T18:09:30Z</dcterms:created>
  <dcterms:modified xsi:type="dcterms:W3CDTF">2026-08-21T20:26:15Z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73649dc-6fee-4eb8-a128-734c3c842ea8_Enabled">
    <vt:lpwstr>true</vt:lpwstr>
  </property>
  <property fmtid="{D5CDD505-2E9C-101B-9397-08002B2CF9AE}" pid="3" name="MSIP_Label_b73649dc-6fee-4eb8-a128-734c3c842ea8_SetDate">
    <vt:lpwstr>2026-08-21T18:10:59Z</vt:lpwstr>
  </property>
  <property fmtid="{D5CDD505-2E9C-101B-9397-08002B2CF9AE}" pid="4" name="MSIP_Label_b73649dc-6fee-4eb8-a128-734c3c842ea8_Method">
    <vt:lpwstr>Standard</vt:lpwstr>
  </property>
  <property fmtid="{D5CDD505-2E9C-101B-9397-08002B2CF9AE}" pid="5" name="MSIP_Label_b73649dc-6fee-4eb8-a128-734c3c842ea8_Name">
    <vt:lpwstr>defa4170-0d19-0005-0004-bc88714345d2</vt:lpwstr>
  </property>
  <property fmtid="{D5CDD505-2E9C-101B-9397-08002B2CF9AE}" pid="6" name="MSIP_Label_b73649dc-6fee-4eb8-a128-734c3c842ea8_SiteId">
    <vt:lpwstr>857c21d2-1a16-43a4-90cf-d57f3fab9d2f</vt:lpwstr>
  </property>
  <property fmtid="{D5CDD505-2E9C-101B-9397-08002B2CF9AE}" pid="7" name="MSIP_Label_b73649dc-6fee-4eb8-a128-734c3c842ea8_ActionId">
    <vt:lpwstr>f429096a-abfe-473a-9010-d442aa2a169b</vt:lpwstr>
  </property>
  <property fmtid="{D5CDD505-2E9C-101B-9397-08002B2CF9AE}" pid="8" name="MSIP_Label_b73649dc-6fee-4eb8-a128-734c3c842ea8_ContentBits">
    <vt:lpwstr>0</vt:lpwstr>
  </property>
  <property fmtid="{D5CDD505-2E9C-101B-9397-08002B2CF9AE}" pid="9" name="MSIP_Label_b73649dc-6fee-4eb8-a128-734c3c842ea8_Tag">
    <vt:lpwstr>50, 3, 0, 1</vt:lpwstr>
  </property>
</Properties>
</file>