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6" r:id="rId2"/>
  </p:sldIdLst>
  <p:sldSz cx="843915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3"/>
    <p:restoredTop sz="94625"/>
  </p:normalViewPr>
  <p:slideViewPr>
    <p:cSldViewPr snapToGrid="0">
      <p:cViewPr varScale="1">
        <p:scale>
          <a:sx n="168" d="100"/>
          <a:sy n="168" d="100"/>
        </p:scale>
        <p:origin x="84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13A1E-513A-C146-8DB7-A4D1DCEAAF7D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81025" y="1143000"/>
            <a:ext cx="5695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C9B7D-87E0-7F4F-91D3-79055D25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72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27590" rtl="0" eaLnBrk="1" latinLnBrk="0" hangingPunct="1">
      <a:defRPr sz="824" kern="1200">
        <a:solidFill>
          <a:schemeClr val="tx1"/>
        </a:solidFill>
        <a:latin typeface="+mn-lt"/>
        <a:ea typeface="+mn-ea"/>
        <a:cs typeface="+mn-cs"/>
      </a:defRPr>
    </a:lvl1pPr>
    <a:lvl2pPr marL="313795" algn="l" defTabSz="627590" rtl="0" eaLnBrk="1" latinLnBrk="0" hangingPunct="1">
      <a:defRPr sz="824" kern="1200">
        <a:solidFill>
          <a:schemeClr val="tx1"/>
        </a:solidFill>
        <a:latin typeface="+mn-lt"/>
        <a:ea typeface="+mn-ea"/>
        <a:cs typeface="+mn-cs"/>
      </a:defRPr>
    </a:lvl2pPr>
    <a:lvl3pPr marL="627590" algn="l" defTabSz="627590" rtl="0" eaLnBrk="1" latinLnBrk="0" hangingPunct="1">
      <a:defRPr sz="824" kern="1200">
        <a:solidFill>
          <a:schemeClr val="tx1"/>
        </a:solidFill>
        <a:latin typeface="+mn-lt"/>
        <a:ea typeface="+mn-ea"/>
        <a:cs typeface="+mn-cs"/>
      </a:defRPr>
    </a:lvl3pPr>
    <a:lvl4pPr marL="941384" algn="l" defTabSz="627590" rtl="0" eaLnBrk="1" latinLnBrk="0" hangingPunct="1">
      <a:defRPr sz="824" kern="1200">
        <a:solidFill>
          <a:schemeClr val="tx1"/>
        </a:solidFill>
        <a:latin typeface="+mn-lt"/>
        <a:ea typeface="+mn-ea"/>
        <a:cs typeface="+mn-cs"/>
      </a:defRPr>
    </a:lvl4pPr>
    <a:lvl5pPr marL="1255178" algn="l" defTabSz="627590" rtl="0" eaLnBrk="1" latinLnBrk="0" hangingPunct="1">
      <a:defRPr sz="824" kern="1200">
        <a:solidFill>
          <a:schemeClr val="tx1"/>
        </a:solidFill>
        <a:latin typeface="+mn-lt"/>
        <a:ea typeface="+mn-ea"/>
        <a:cs typeface="+mn-cs"/>
      </a:defRPr>
    </a:lvl5pPr>
    <a:lvl6pPr marL="1568973" algn="l" defTabSz="627590" rtl="0" eaLnBrk="1" latinLnBrk="0" hangingPunct="1">
      <a:defRPr sz="824" kern="1200">
        <a:solidFill>
          <a:schemeClr val="tx1"/>
        </a:solidFill>
        <a:latin typeface="+mn-lt"/>
        <a:ea typeface="+mn-ea"/>
        <a:cs typeface="+mn-cs"/>
      </a:defRPr>
    </a:lvl6pPr>
    <a:lvl7pPr marL="1882768" algn="l" defTabSz="627590" rtl="0" eaLnBrk="1" latinLnBrk="0" hangingPunct="1">
      <a:defRPr sz="824" kern="1200">
        <a:solidFill>
          <a:schemeClr val="tx1"/>
        </a:solidFill>
        <a:latin typeface="+mn-lt"/>
        <a:ea typeface="+mn-ea"/>
        <a:cs typeface="+mn-cs"/>
      </a:defRPr>
    </a:lvl7pPr>
    <a:lvl8pPr marL="2196563" algn="l" defTabSz="627590" rtl="0" eaLnBrk="1" latinLnBrk="0" hangingPunct="1">
      <a:defRPr sz="824" kern="1200">
        <a:solidFill>
          <a:schemeClr val="tx1"/>
        </a:solidFill>
        <a:latin typeface="+mn-lt"/>
        <a:ea typeface="+mn-ea"/>
        <a:cs typeface="+mn-cs"/>
      </a:defRPr>
    </a:lvl8pPr>
    <a:lvl9pPr marL="2510357" algn="l" defTabSz="627590" rtl="0" eaLnBrk="1" latinLnBrk="0" hangingPunct="1">
      <a:defRPr sz="8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B7D-87E0-7F4F-91D3-79055D2520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3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4894" y="748242"/>
            <a:ext cx="6329363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4894" y="2401359"/>
            <a:ext cx="6329363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90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3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796" y="1139826"/>
            <a:ext cx="7278767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5796" y="3059642"/>
            <a:ext cx="7278767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05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0191" y="1217083"/>
            <a:ext cx="3586639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72320" y="1217083"/>
            <a:ext cx="3586639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8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291" y="243417"/>
            <a:ext cx="7278767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291" y="1120775"/>
            <a:ext cx="3570156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291" y="1670050"/>
            <a:ext cx="357015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2320" y="1120775"/>
            <a:ext cx="358773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2320" y="1670050"/>
            <a:ext cx="358773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0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94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291" y="304800"/>
            <a:ext cx="272184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7738" y="658284"/>
            <a:ext cx="4272320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291" y="1371600"/>
            <a:ext cx="272184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2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291" y="304800"/>
            <a:ext cx="272184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87738" y="658284"/>
            <a:ext cx="4272320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291" y="1371600"/>
            <a:ext cx="272184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9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71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39267" y="243416"/>
            <a:ext cx="1819692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0191" y="243416"/>
            <a:ext cx="5353586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1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0192" y="243417"/>
            <a:ext cx="7278767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0192" y="1217083"/>
            <a:ext cx="7278767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0191" y="4237567"/>
            <a:ext cx="1898809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D558A-DF59-A249-A8DD-6F235DCEC2AE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95469" y="4237567"/>
            <a:ext cx="2848213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60150" y="4237567"/>
            <a:ext cx="1898809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A7866-64B9-3143-86EE-FC9383338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1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 333">
            <a:extLst>
              <a:ext uri="{FF2B5EF4-FFF2-40B4-BE49-F238E27FC236}">
                <a16:creationId xmlns:a16="http://schemas.microsoft.com/office/drawing/2014/main" id="{3C99D62E-3BE5-11E7-71DB-A280C3138489}"/>
              </a:ext>
            </a:extLst>
          </p:cNvPr>
          <p:cNvSpPr/>
          <p:nvPr/>
        </p:nvSpPr>
        <p:spPr>
          <a:xfrm>
            <a:off x="26999" y="2150409"/>
            <a:ext cx="1817783" cy="18407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226593A6-E945-030C-95B9-2DE31EC6AEC5}"/>
              </a:ext>
            </a:extLst>
          </p:cNvPr>
          <p:cNvSpPr txBox="1"/>
          <p:nvPr/>
        </p:nvSpPr>
        <p:spPr>
          <a:xfrm>
            <a:off x="666166" y="1824636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REE</a:t>
            </a: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B3ED7124-231D-A022-B854-2E2EFAF99F65}"/>
              </a:ext>
            </a:extLst>
          </p:cNvPr>
          <p:cNvSpPr/>
          <p:nvPr/>
        </p:nvSpPr>
        <p:spPr>
          <a:xfrm>
            <a:off x="1844782" y="2150407"/>
            <a:ext cx="1817783" cy="15103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0764833B-BF92-F4E7-9806-67CC3B646E4D}"/>
              </a:ext>
            </a:extLst>
          </p:cNvPr>
          <p:cNvSpPr txBox="1"/>
          <p:nvPr/>
        </p:nvSpPr>
        <p:spPr>
          <a:xfrm>
            <a:off x="2483949" y="1824636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TEE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D4EF1FB1-0A5E-6D39-A13E-C74B26E2CFE0}"/>
              </a:ext>
            </a:extLst>
          </p:cNvPr>
          <p:cNvSpPr txBox="1"/>
          <p:nvPr/>
        </p:nvSpPr>
        <p:spPr>
          <a:xfrm>
            <a:off x="2264225" y="313068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badi MT Condensed Light" panose="020B0306030101010103" pitchFamily="34" charset="77"/>
              </a:rPr>
              <a:t>TEE OS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28681F4-7788-5472-B415-00395EFEFC7D}"/>
              </a:ext>
            </a:extLst>
          </p:cNvPr>
          <p:cNvSpPr txBox="1"/>
          <p:nvPr/>
        </p:nvSpPr>
        <p:spPr>
          <a:xfrm>
            <a:off x="4234577" y="-85539"/>
            <a:ext cx="1037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REE</a:t>
            </a:r>
            <a:r>
              <a:rPr lang="en-US" dirty="0"/>
              <a:t>(</a:t>
            </a:r>
            <a:r>
              <a:rPr lang="en-US" i="1" dirty="0"/>
              <a:t>PS</a:t>
            </a:r>
            <a:r>
              <a:rPr lang="en-US" dirty="0"/>
              <a:t>)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E7646C79-71F1-17D4-F88E-89B1A54A9529}"/>
              </a:ext>
            </a:extLst>
          </p:cNvPr>
          <p:cNvSpPr txBox="1"/>
          <p:nvPr/>
        </p:nvSpPr>
        <p:spPr>
          <a:xfrm>
            <a:off x="6454780" y="-74465"/>
            <a:ext cx="1393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TEE </a:t>
            </a:r>
            <a:r>
              <a:rPr lang="en-US" dirty="0"/>
              <a:t>(</a:t>
            </a:r>
            <a:r>
              <a:rPr lang="en-US" i="1" dirty="0"/>
              <a:t>FPGA</a:t>
            </a:r>
            <a:r>
              <a:rPr lang="en-US" dirty="0"/>
              <a:t>)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E916A360-99C1-CDE2-39E9-2878319E6384}"/>
              </a:ext>
            </a:extLst>
          </p:cNvPr>
          <p:cNvSpPr txBox="1"/>
          <p:nvPr/>
        </p:nvSpPr>
        <p:spPr>
          <a:xfrm>
            <a:off x="1946638" y="2310430"/>
            <a:ext cx="1500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Trusted </a:t>
            </a:r>
          </a:p>
          <a:p>
            <a:pPr algn="ctr"/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Application/s</a:t>
            </a:r>
            <a:endParaRPr lang="en-US" i="1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9BF2C618-2BB0-B48E-78CE-86C446E9A305}"/>
              </a:ext>
            </a:extLst>
          </p:cNvPr>
          <p:cNvSpPr/>
          <p:nvPr/>
        </p:nvSpPr>
        <p:spPr>
          <a:xfrm>
            <a:off x="5619454" y="3986563"/>
            <a:ext cx="1262113" cy="3303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39D224A1-D83C-C914-48DB-4A999E6D56F4}"/>
              </a:ext>
            </a:extLst>
          </p:cNvPr>
          <p:cNvSpPr txBox="1"/>
          <p:nvPr/>
        </p:nvSpPr>
        <p:spPr>
          <a:xfrm>
            <a:off x="1088514" y="4265143"/>
            <a:ext cx="1497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General TEEs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4245879D-FF1B-C903-CF26-6AFF3B3A3171}"/>
              </a:ext>
            </a:extLst>
          </p:cNvPr>
          <p:cNvSpPr txBox="1"/>
          <p:nvPr/>
        </p:nvSpPr>
        <p:spPr>
          <a:xfrm>
            <a:off x="5242859" y="4265143"/>
            <a:ext cx="2018309" cy="3693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 MT Condensed Light" panose="020B0306030101010103" pitchFamily="34" charset="77"/>
              </a:rPr>
              <a:t>BYOT</a:t>
            </a:r>
            <a:r>
              <a:rPr lang="en-US" sz="1600" b="1" dirty="0">
                <a:latin typeface="Abadi MT Condensed Light" panose="020B0306030101010103" pitchFamily="34" charset="77"/>
              </a:rPr>
              <a:t>EE</a:t>
            </a:r>
            <a:r>
              <a:rPr lang="en-US" b="1" dirty="0"/>
              <a:t> Framework</a:t>
            </a: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CFD73C85-32AE-808E-B462-81C264C84DD0}"/>
              </a:ext>
            </a:extLst>
          </p:cNvPr>
          <p:cNvSpPr/>
          <p:nvPr/>
        </p:nvSpPr>
        <p:spPr>
          <a:xfrm>
            <a:off x="24898" y="247986"/>
            <a:ext cx="3635566" cy="1576650"/>
          </a:xfrm>
          <a:prstGeom prst="rect">
            <a:avLst/>
          </a:prstGeom>
          <a:noFill/>
          <a:ln w="19050">
            <a:solidFill>
              <a:schemeClr val="tx2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7AEF56F1-28EA-B48A-1D3D-EFC9FE9DF61B}"/>
              </a:ext>
            </a:extLst>
          </p:cNvPr>
          <p:cNvSpPr txBox="1"/>
          <p:nvPr/>
        </p:nvSpPr>
        <p:spPr>
          <a:xfrm>
            <a:off x="61318" y="574291"/>
            <a:ext cx="357972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1</a:t>
            </a:r>
            <a:r>
              <a:rPr lang="en-US" sz="1800" dirty="0">
                <a:latin typeface="Abadi MT Condensed Light" panose="020B0306030101010103" pitchFamily="34" charset="77"/>
              </a:rPr>
              <a:t>. </a:t>
            </a:r>
            <a:r>
              <a:rPr lang="en-US" sz="1800" b="1" dirty="0">
                <a:latin typeface="Abadi MT Condensed Light" panose="020B0306030101010103" pitchFamily="34" charset="77"/>
              </a:rPr>
              <a:t>FCM</a:t>
            </a:r>
            <a:r>
              <a:rPr lang="en-US" sz="1800" dirty="0">
                <a:latin typeface="Abadi MT Condensed Light" panose="020B0306030101010103" pitchFamily="34" charset="77"/>
              </a:rPr>
              <a:t>: </a:t>
            </a:r>
            <a:r>
              <a:rPr lang="en-US" sz="1400" dirty="0"/>
              <a:t>Configures and measures the TEE 	FPGA hardware- </a:t>
            </a:r>
            <a:r>
              <a:rPr lang="en-US" sz="1400" b="1" i="1" dirty="0"/>
              <a:t>A</a:t>
            </a:r>
            <a:r>
              <a:rPr lang="en-US" sz="1400" b="1" i="1" baseline="-25000" dirty="0"/>
              <a:t>H</a:t>
            </a:r>
          </a:p>
          <a:p>
            <a:r>
              <a:rPr lang="en-US" sz="1800" dirty="0">
                <a:solidFill>
                  <a:schemeClr val="tx1"/>
                </a:solidFill>
              </a:rPr>
              <a:t>2. </a:t>
            </a:r>
            <a:r>
              <a:rPr lang="en-US" sz="1800" b="1" dirty="0">
                <a:solidFill>
                  <a:schemeClr val="tx1"/>
                </a:solidFill>
                <a:latin typeface="Abadi MT Condensed Light" panose="020B0306030101010103" pitchFamily="34" charset="77"/>
              </a:rPr>
              <a:t>HW-ATT: </a:t>
            </a:r>
            <a:r>
              <a:rPr lang="en-US" sz="1400" dirty="0">
                <a:solidFill>
                  <a:schemeClr val="tx1"/>
                </a:solidFill>
              </a:rPr>
              <a:t>Measures TEE software   	components - </a:t>
            </a:r>
            <a:r>
              <a:rPr lang="en-US" sz="1400" b="1" i="1" dirty="0">
                <a:solidFill>
                  <a:schemeClr val="tx1"/>
                </a:solidFill>
              </a:rPr>
              <a:t>A</a:t>
            </a:r>
            <a:r>
              <a:rPr lang="en-US" sz="1400" b="1" i="1" baseline="-25000" dirty="0">
                <a:solidFill>
                  <a:schemeClr val="tx1"/>
                </a:solidFill>
              </a:rPr>
              <a:t>S</a:t>
            </a:r>
            <a:r>
              <a:rPr lang="en-US" sz="1400" b="1" i="1" dirty="0">
                <a:solidFill>
                  <a:schemeClr val="tx1"/>
                </a:solidFill>
              </a:rPr>
              <a:t> </a:t>
            </a:r>
            <a:r>
              <a:rPr lang="en-US" sz="1400" dirty="0"/>
              <a:t>and combines with</a:t>
            </a:r>
          </a:p>
          <a:p>
            <a:r>
              <a:rPr lang="en-US" sz="1400" b="1" i="1" dirty="0"/>
              <a:t>	A</a:t>
            </a:r>
            <a:r>
              <a:rPr lang="en-US" sz="1400" b="1" i="1" baseline="-25000" dirty="0"/>
              <a:t>H</a:t>
            </a:r>
            <a:r>
              <a:rPr lang="en-US" sz="1400" i="1" dirty="0"/>
              <a:t>  for verification - </a:t>
            </a:r>
            <a:r>
              <a:rPr lang="en-US" sz="1400" b="1" i="1" dirty="0"/>
              <a:t>A</a:t>
            </a:r>
            <a:r>
              <a:rPr lang="en-US" sz="1400" b="1" i="1" baseline="-25000" dirty="0"/>
              <a:t>TEE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45CC5B7-D6F3-8E4F-3F80-B5A6BF0AE087}"/>
              </a:ext>
            </a:extLst>
          </p:cNvPr>
          <p:cNvSpPr txBox="1"/>
          <p:nvPr/>
        </p:nvSpPr>
        <p:spPr>
          <a:xfrm>
            <a:off x="567212" y="250903"/>
            <a:ext cx="2706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TEE Trust Establishment</a:t>
            </a: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4D0AB89E-9134-E455-8346-5899B6211C55}"/>
              </a:ext>
            </a:extLst>
          </p:cNvPr>
          <p:cNvSpPr/>
          <p:nvPr/>
        </p:nvSpPr>
        <p:spPr>
          <a:xfrm>
            <a:off x="26999" y="3661997"/>
            <a:ext cx="3635566" cy="3291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Shared CPU, Memory, Cache</a:t>
            </a: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10A9013-3CC2-4B2D-88BA-EDD5C6628DE9}"/>
              </a:ext>
            </a:extLst>
          </p:cNvPr>
          <p:cNvSpPr/>
          <p:nvPr/>
        </p:nvSpPr>
        <p:spPr>
          <a:xfrm>
            <a:off x="24896" y="3986563"/>
            <a:ext cx="3643822" cy="3303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C14F593E-1A08-B010-9405-47C5804304E6}"/>
              </a:ext>
            </a:extLst>
          </p:cNvPr>
          <p:cNvSpPr/>
          <p:nvPr/>
        </p:nvSpPr>
        <p:spPr>
          <a:xfrm>
            <a:off x="7150636" y="3986563"/>
            <a:ext cx="1262113" cy="3303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DAA6B54B-636D-36AD-71FD-CFB71A7D9BEE}"/>
              </a:ext>
            </a:extLst>
          </p:cNvPr>
          <p:cNvSpPr/>
          <p:nvPr/>
        </p:nvSpPr>
        <p:spPr>
          <a:xfrm>
            <a:off x="3806182" y="247986"/>
            <a:ext cx="1817783" cy="37375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19155726-7DFD-B8C4-A32C-795573A45990}"/>
              </a:ext>
            </a:extLst>
          </p:cNvPr>
          <p:cNvSpPr/>
          <p:nvPr/>
        </p:nvSpPr>
        <p:spPr>
          <a:xfrm>
            <a:off x="3808040" y="3986563"/>
            <a:ext cx="1815923" cy="3303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76D9E-EF23-0A20-A609-D04988F5A642}"/>
              </a:ext>
            </a:extLst>
          </p:cNvPr>
          <p:cNvSpPr/>
          <p:nvPr/>
        </p:nvSpPr>
        <p:spPr>
          <a:xfrm>
            <a:off x="5619454" y="247986"/>
            <a:ext cx="2792697" cy="37375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17FF3-A6B1-E88B-62D9-DEBB44E1383A}"/>
              </a:ext>
            </a:extLst>
          </p:cNvPr>
          <p:cNvSpPr/>
          <p:nvPr/>
        </p:nvSpPr>
        <p:spPr>
          <a:xfrm rot="16200000">
            <a:off x="4552695" y="1737869"/>
            <a:ext cx="3400389" cy="4206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Isolated CPU, Memory, Cache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4CE6A-E799-C024-207B-C9F26AF268D7}"/>
              </a:ext>
            </a:extLst>
          </p:cNvPr>
          <p:cNvSpPr/>
          <p:nvPr/>
        </p:nvSpPr>
        <p:spPr>
          <a:xfrm rot="16200000">
            <a:off x="4972975" y="1738821"/>
            <a:ext cx="3402901" cy="4212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badi MT Condensed Light" panose="020B0306030101010103" pitchFamily="34" charset="77"/>
              </a:rPr>
              <a:t>FIRMWARE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992FE-D1EC-CCCB-D68A-AAD7A3D7F18E}"/>
              </a:ext>
            </a:extLst>
          </p:cNvPr>
          <p:cNvSpPr txBox="1"/>
          <p:nvPr/>
        </p:nvSpPr>
        <p:spPr>
          <a:xfrm rot="16200000">
            <a:off x="6746659" y="1741973"/>
            <a:ext cx="38183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40F7A-390E-8A67-2696-2D156ED5B1CB}"/>
              </a:ext>
            </a:extLst>
          </p:cNvPr>
          <p:cNvSpPr/>
          <p:nvPr/>
        </p:nvSpPr>
        <p:spPr>
          <a:xfrm>
            <a:off x="7150636" y="247986"/>
            <a:ext cx="420624" cy="340290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687F62-A221-8FF1-15C7-CFFFBC57343C}"/>
              </a:ext>
            </a:extLst>
          </p:cNvPr>
          <p:cNvSpPr/>
          <p:nvPr/>
        </p:nvSpPr>
        <p:spPr>
          <a:xfrm rot="16200000">
            <a:off x="6083412" y="1738822"/>
            <a:ext cx="3402904" cy="4212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Isolated CPU, Memory, Cache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D08117-812D-7A52-956A-4DA372B01071}"/>
              </a:ext>
            </a:extLst>
          </p:cNvPr>
          <p:cNvSpPr/>
          <p:nvPr/>
        </p:nvSpPr>
        <p:spPr>
          <a:xfrm rot="16200000">
            <a:off x="6504644" y="1738822"/>
            <a:ext cx="3402904" cy="4212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badi MT Condensed Light" panose="020B0306030101010103" pitchFamily="34" charset="77"/>
              </a:rPr>
              <a:t>FIRMWARE</a:t>
            </a:r>
            <a:endParaRPr lang="en-US" dirty="0">
              <a:latin typeface="Abadi MT Condensed Light" panose="020B03060301010101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EC2FB1-C7DF-B4E4-0AF7-6C126B2816B1}"/>
              </a:ext>
            </a:extLst>
          </p:cNvPr>
          <p:cNvSpPr/>
          <p:nvPr/>
        </p:nvSpPr>
        <p:spPr>
          <a:xfrm>
            <a:off x="5619455" y="247986"/>
            <a:ext cx="420624" cy="34029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4AA035-8D8A-1393-55DF-2DA1577D68B1}"/>
              </a:ext>
            </a:extLst>
          </p:cNvPr>
          <p:cNvSpPr/>
          <p:nvPr/>
        </p:nvSpPr>
        <p:spPr>
          <a:xfrm>
            <a:off x="6885043" y="247986"/>
            <a:ext cx="265594" cy="40664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F000C-E8D5-3F73-97DA-F6858A823C9D}"/>
              </a:ext>
            </a:extLst>
          </p:cNvPr>
          <p:cNvSpPr txBox="1"/>
          <p:nvPr/>
        </p:nvSpPr>
        <p:spPr>
          <a:xfrm rot="16200000">
            <a:off x="4756889" y="1688257"/>
            <a:ext cx="215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Trusted Application</a:t>
            </a:r>
            <a:endParaRPr lang="en-US" i="1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89E7E-C0DB-53EB-8B3E-DD82465B88F7}"/>
              </a:ext>
            </a:extLst>
          </p:cNvPr>
          <p:cNvSpPr txBox="1"/>
          <p:nvPr/>
        </p:nvSpPr>
        <p:spPr>
          <a:xfrm rot="16200000">
            <a:off x="6270628" y="1688257"/>
            <a:ext cx="215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Trusted Application</a:t>
            </a:r>
            <a:endParaRPr lang="en-US" i="1" baseline="-25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C887FB-FD6C-9B3E-052C-58E7503E246A}"/>
              </a:ext>
            </a:extLst>
          </p:cNvPr>
          <p:cNvSpPr/>
          <p:nvPr/>
        </p:nvSpPr>
        <p:spPr>
          <a:xfrm>
            <a:off x="5619455" y="3334251"/>
            <a:ext cx="1262113" cy="3303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Enclave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endParaRPr lang="en-US" baseline="-25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EC56DE-2BF3-EA4B-3DB7-FB40763294B0}"/>
              </a:ext>
            </a:extLst>
          </p:cNvPr>
          <p:cNvSpPr/>
          <p:nvPr/>
        </p:nvSpPr>
        <p:spPr>
          <a:xfrm>
            <a:off x="7154112" y="3324163"/>
            <a:ext cx="1262600" cy="3303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Enclave</a:t>
            </a:r>
            <a:r>
              <a:rPr lang="en-US" baseline="-25000" dirty="0" err="1">
                <a:solidFill>
                  <a:schemeClr val="tx1"/>
                </a:solidFill>
              </a:rPr>
              <a:t>n</a:t>
            </a:r>
            <a:endParaRPr lang="en-US" baseline="-25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E038FF-BFBD-5E18-5EC3-55EDE9F24D09}"/>
              </a:ext>
            </a:extLst>
          </p:cNvPr>
          <p:cNvSpPr/>
          <p:nvPr/>
        </p:nvSpPr>
        <p:spPr>
          <a:xfrm>
            <a:off x="5623964" y="3655909"/>
            <a:ext cx="2792747" cy="3303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badi MT Condensed Light" panose="020B0306030101010103" pitchFamily="34" charset="77"/>
              </a:rPr>
              <a:t>FCM, HW-ATT</a:t>
            </a:r>
            <a:endParaRPr lang="en-US" b="1" baseline="-25000" dirty="0">
              <a:latin typeface="Abadi MT Condensed Light" panose="020B0306030101010103" pitchFamily="34" charset="77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B12512-4AD9-B8D9-7799-57EE6A5DC654}"/>
              </a:ext>
            </a:extLst>
          </p:cNvPr>
          <p:cNvCxnSpPr>
            <a:cxnSpLocks/>
          </p:cNvCxnSpPr>
          <p:nvPr/>
        </p:nvCxnSpPr>
        <p:spPr>
          <a:xfrm>
            <a:off x="3806182" y="3060742"/>
            <a:ext cx="1817783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8493205-9460-DD24-2AE0-DFA0D00F89DC}"/>
              </a:ext>
            </a:extLst>
          </p:cNvPr>
          <p:cNvSpPr txBox="1"/>
          <p:nvPr/>
        </p:nvSpPr>
        <p:spPr>
          <a:xfrm>
            <a:off x="4145326" y="3141427"/>
            <a:ext cx="11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 Kernel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C3F692-695E-DE5C-D8F2-D30B94E9704B}"/>
              </a:ext>
            </a:extLst>
          </p:cNvPr>
          <p:cNvSpPr txBox="1"/>
          <p:nvPr/>
        </p:nvSpPr>
        <p:spPr>
          <a:xfrm>
            <a:off x="3976659" y="2310430"/>
            <a:ext cx="1500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Untrusted </a:t>
            </a:r>
          </a:p>
          <a:p>
            <a:pPr algn="ctr"/>
            <a:r>
              <a:rPr lang="en-US" i="1" dirty="0"/>
              <a:t>Application/s</a:t>
            </a:r>
            <a:endParaRPr lang="en-US" i="1" baseline="-250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AAF721-C513-B299-EC58-3E07B26EAC20}"/>
              </a:ext>
            </a:extLst>
          </p:cNvPr>
          <p:cNvCxnSpPr/>
          <p:nvPr/>
        </p:nvCxnSpPr>
        <p:spPr>
          <a:xfrm>
            <a:off x="26999" y="3060742"/>
            <a:ext cx="3635566" cy="0"/>
          </a:xfrm>
          <a:prstGeom prst="line">
            <a:avLst/>
          </a:prstGeom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58B204-E983-9A33-294F-42FA82EC11A3}"/>
              </a:ext>
            </a:extLst>
          </p:cNvPr>
          <p:cNvSpPr txBox="1"/>
          <p:nvPr/>
        </p:nvSpPr>
        <p:spPr>
          <a:xfrm>
            <a:off x="457326" y="3141427"/>
            <a:ext cx="11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OS Kernel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51968E-ECCA-0684-68D6-1C038006239A}"/>
              </a:ext>
            </a:extLst>
          </p:cNvPr>
          <p:cNvSpPr txBox="1"/>
          <p:nvPr/>
        </p:nvSpPr>
        <p:spPr>
          <a:xfrm>
            <a:off x="197946" y="2310430"/>
            <a:ext cx="1500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Untrusted </a:t>
            </a:r>
          </a:p>
          <a:p>
            <a:pPr algn="ctr"/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Application/s</a:t>
            </a:r>
            <a:endParaRPr lang="en-US" i="1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6325371-BF54-0289-0A16-1CD789E1F6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5612" y="3999114"/>
            <a:ext cx="476250" cy="3048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5F88154-17FB-5A5D-58A2-15E1F9C111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52193" y="3999114"/>
            <a:ext cx="270808" cy="3018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3ADF9A-DE1E-CCBB-CC92-3083468D3B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60553" y="3999114"/>
            <a:ext cx="337106" cy="3018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BE94CD5-DD01-87F9-AD69-037610AC554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29543" y="3999114"/>
            <a:ext cx="294968" cy="3104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2398E1C-054A-7BA7-F1B3-E97FDF34AD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472764" y="3999114"/>
            <a:ext cx="338026" cy="30271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6BD89FA-A7EB-1360-E375-B8A0524293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07637" y="3994119"/>
            <a:ext cx="337106" cy="30188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CA5056A-9571-2B7B-A7C9-08CA4D5F4F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80759" y="3998248"/>
            <a:ext cx="270808" cy="30188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77408C3-C946-7329-50BD-CE099CBB42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248757" y="4001896"/>
            <a:ext cx="294968" cy="31049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DC31157-0C5E-3A06-68C7-11CA50B28D6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973632" y="4009679"/>
            <a:ext cx="338026" cy="30271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F9836CE-F8FF-F40F-C1E4-ACC60BB15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21102" y="3992349"/>
            <a:ext cx="476250" cy="3048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F6A9AD1-95D0-E142-6998-C1BFFDE435AF}"/>
              </a:ext>
            </a:extLst>
          </p:cNvPr>
          <p:cNvSpPr/>
          <p:nvPr/>
        </p:nvSpPr>
        <p:spPr>
          <a:xfrm>
            <a:off x="3806182" y="3664645"/>
            <a:ext cx="1817783" cy="3265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CPU, Memory, Cache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57C445-D3DF-B027-AAA9-6CF9C43CB3AF}"/>
              </a:ext>
            </a:extLst>
          </p:cNvPr>
          <p:cNvSpPr txBox="1"/>
          <p:nvPr/>
        </p:nvSpPr>
        <p:spPr>
          <a:xfrm rot="16200000">
            <a:off x="6741936" y="1714152"/>
            <a:ext cx="38183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04140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</TotalTime>
  <Words>107</Words>
  <Application>Microsoft Macintosh PowerPoint</Application>
  <PresentationFormat>Custom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Abadi MT Condensed Light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Armanuzzaman, MD</dc:creator>
  <cp:lastModifiedBy>Armanuzzaman, MD</cp:lastModifiedBy>
  <cp:revision>18</cp:revision>
  <dcterms:created xsi:type="dcterms:W3CDTF">2026-08-21T18:09:30Z</dcterms:created>
  <dcterms:modified xsi:type="dcterms:W3CDTF">2026-09-11T17:42:02Z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2026-08-21T18:10:59Z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f429096a-abfe-473a-9010-d442aa2a169b</vt:lpwstr>
  </property>
  <property fmtid="{D5CDD505-2E9C-101B-9397-08002B2CF9AE}" pid="8" name="MSIP_Label_b73649dc-6fee-4eb8-a128-734c3c842ea8_ContentBits">
    <vt:lpwstr>0</vt:lpwstr>
  </property>
  <property fmtid="{D5CDD505-2E9C-101B-9397-08002B2CF9AE}" pid="9" name="MSIP_Label_b73649dc-6fee-4eb8-a128-734c3c842ea8_Tag">
    <vt:lpwstr>50, 3, 0, 1</vt:lpwstr>
  </property>
</Properties>
</file>